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3" r:id="rId2"/>
    <p:sldId id="272" r:id="rId3"/>
    <p:sldId id="259" r:id="rId4"/>
    <p:sldId id="260" r:id="rId5"/>
    <p:sldId id="261" r:id="rId6"/>
    <p:sldId id="280" r:id="rId7"/>
    <p:sldId id="281" r:id="rId8"/>
    <p:sldId id="257" r:id="rId9"/>
    <p:sldId id="278" r:id="rId10"/>
    <p:sldId id="269" r:id="rId11"/>
    <p:sldId id="262" r:id="rId12"/>
    <p:sldId id="274" r:id="rId13"/>
    <p:sldId id="279" r:id="rId14"/>
    <p:sldId id="270" r:id="rId15"/>
    <p:sldId id="276" r:id="rId16"/>
    <p:sldId id="264" r:id="rId17"/>
    <p:sldId id="277" r:id="rId18"/>
    <p:sldId id="265" r:id="rId19"/>
    <p:sldId id="275" r:id="rId20"/>
    <p:sldId id="267" r:id="rId21"/>
    <p:sldId id="268" r:id="rId22"/>
    <p:sldId id="271" r:id="rId23"/>
    <p:sldId id="266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11" userDrawn="1">
          <p15:clr>
            <a:srgbClr val="A4A3A4"/>
          </p15:clr>
        </p15:guide>
        <p15:guide id="2" pos="413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38A3"/>
    <a:srgbClr val="F250DB"/>
    <a:srgbClr val="C3137C"/>
    <a:srgbClr val="41719C"/>
    <a:srgbClr val="1F77B4"/>
    <a:srgbClr val="1C75B3"/>
    <a:srgbClr val="FF7E0C"/>
    <a:srgbClr val="FFA500"/>
    <a:srgbClr val="008080"/>
    <a:srgbClr val="940E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63" autoAdjust="0"/>
    <p:restoredTop sz="94660"/>
  </p:normalViewPr>
  <p:slideViewPr>
    <p:cSldViewPr snapToGrid="0" showGuides="1">
      <p:cViewPr varScale="1">
        <p:scale>
          <a:sx n="95" d="100"/>
          <a:sy n="95" d="100"/>
        </p:scale>
        <p:origin x="115" y="72"/>
      </p:cViewPr>
      <p:guideLst>
        <p:guide orient="horz" pos="1911"/>
        <p:guide pos="413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673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7284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98597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44101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90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84885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50354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63496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14556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95652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1735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2533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7465F7-512E-48F4-BF26-2BF4FC2D3885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1985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0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27.jp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0.png"/><Relationship Id="rId7" Type="http://schemas.openxmlformats.org/officeDocument/2006/relationships/image" Target="../media/image32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0.png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60.png"/><Relationship Id="rId18" Type="http://schemas.openxmlformats.org/officeDocument/2006/relationships/image" Target="../media/image65.png"/><Relationship Id="rId3" Type="http://schemas.openxmlformats.org/officeDocument/2006/relationships/image" Target="../media/image50.png"/><Relationship Id="rId21" Type="http://schemas.openxmlformats.org/officeDocument/2006/relationships/image" Target="../media/image68.png"/><Relationship Id="rId7" Type="http://schemas.openxmlformats.org/officeDocument/2006/relationships/image" Target="../media/image54.png"/><Relationship Id="rId12" Type="http://schemas.openxmlformats.org/officeDocument/2006/relationships/image" Target="../media/image59.png"/><Relationship Id="rId17" Type="http://schemas.openxmlformats.org/officeDocument/2006/relationships/image" Target="../media/image64.png"/><Relationship Id="rId2" Type="http://schemas.openxmlformats.org/officeDocument/2006/relationships/image" Target="../media/image49.png"/><Relationship Id="rId16" Type="http://schemas.openxmlformats.org/officeDocument/2006/relationships/image" Target="../media/image63.png"/><Relationship Id="rId20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png"/><Relationship Id="rId11" Type="http://schemas.openxmlformats.org/officeDocument/2006/relationships/image" Target="../media/image58.png"/><Relationship Id="rId5" Type="http://schemas.openxmlformats.org/officeDocument/2006/relationships/image" Target="../media/image52.png"/><Relationship Id="rId15" Type="http://schemas.openxmlformats.org/officeDocument/2006/relationships/image" Target="../media/image62.png"/><Relationship Id="rId10" Type="http://schemas.openxmlformats.org/officeDocument/2006/relationships/image" Target="../media/image57.png"/><Relationship Id="rId19" Type="http://schemas.openxmlformats.org/officeDocument/2006/relationships/image" Target="../media/image66.png"/><Relationship Id="rId4" Type="http://schemas.openxmlformats.org/officeDocument/2006/relationships/image" Target="../media/image51.png"/><Relationship Id="rId9" Type="http://schemas.openxmlformats.org/officeDocument/2006/relationships/image" Target="../media/image56.png"/><Relationship Id="rId14" Type="http://schemas.openxmlformats.org/officeDocument/2006/relationships/image" Target="../media/image61.png"/><Relationship Id="rId22" Type="http://schemas.openxmlformats.org/officeDocument/2006/relationships/image" Target="../media/image6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76.png"/><Relationship Id="rId4" Type="http://schemas.openxmlformats.org/officeDocument/2006/relationships/image" Target="../media/image7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1.png"/><Relationship Id="rId4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3" Type="http://schemas.openxmlformats.org/officeDocument/2006/relationships/image" Target="../media/image86.png"/><Relationship Id="rId7" Type="http://schemas.openxmlformats.org/officeDocument/2006/relationships/image" Target="../media/image90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87.png"/><Relationship Id="rId9" Type="http://schemas.openxmlformats.org/officeDocument/2006/relationships/image" Target="../media/image9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6.png"/><Relationship Id="rId4" Type="http://schemas.openxmlformats.org/officeDocument/2006/relationships/image" Target="../media/image9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Cube 112"/>
          <p:cNvSpPr/>
          <p:nvPr/>
        </p:nvSpPr>
        <p:spPr>
          <a:xfrm>
            <a:off x="4945100" y="4983129"/>
            <a:ext cx="2080009" cy="1260065"/>
          </a:xfrm>
          <a:prstGeom prst="cube">
            <a:avLst/>
          </a:prstGeom>
          <a:solidFill>
            <a:schemeClr val="tx1">
              <a:lumMod val="95000"/>
              <a:lumOff val="5000"/>
              <a:alpha val="67000"/>
            </a:schemeClr>
          </a:solidFill>
          <a:ln>
            <a:solidFill>
              <a:schemeClr val="bg1">
                <a:lumMod val="95000"/>
              </a:schemeClr>
            </a:solidFill>
          </a:ln>
          <a:scene3d>
            <a:camera prst="orthographicFront">
              <a:rot lat="1200000" lon="0" rev="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1" name="Rectangle 90"/>
          <p:cNvSpPr/>
          <p:nvPr/>
        </p:nvSpPr>
        <p:spPr>
          <a:xfrm>
            <a:off x="6534129" y="1614685"/>
            <a:ext cx="1858945" cy="729538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0"/>
                  <a:lumOff val="100000"/>
                  <a:alpha val="0"/>
                </a:schemeClr>
              </a:gs>
              <a:gs pos="22000">
                <a:schemeClr val="accent5">
                  <a:lumMod val="0"/>
                  <a:lumOff val="100000"/>
                </a:schemeClr>
              </a:gs>
              <a:gs pos="42000">
                <a:schemeClr val="accent5">
                  <a:lumMod val="100000"/>
                </a:schemeClr>
              </a:gs>
            </a:gsLst>
            <a:path path="circle">
              <a:fillToRect l="50000" t="-80000" r="50000" b="180000"/>
            </a:path>
            <a:tileRect/>
          </a:gradFill>
          <a:ln>
            <a:solidFill>
              <a:schemeClr val="tx1">
                <a:alpha val="99000"/>
              </a:schemeClr>
            </a:solidFill>
          </a:ln>
          <a:scene3d>
            <a:camera prst="orthographicFront">
              <a:rot lat="19106325" lon="2515816" rev="19752576"/>
            </a:camera>
            <a:lightRig rig="threePt" dir="t"/>
          </a:scene3d>
          <a:sp3d>
            <a:bevelT w="152400" h="50800" prst="softRound"/>
          </a:sp3d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90" name="Picture 89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40423B"/>
              </a:clrFrom>
              <a:clrTo>
                <a:srgbClr val="40423B">
                  <a:alpha val="0"/>
                </a:srgbClr>
              </a:clrTo>
            </a:clrChange>
          </a:blip>
          <a:srcRect l="20396" t="35392" r="20491" b="20028"/>
          <a:stretch/>
        </p:blipFill>
        <p:spPr>
          <a:xfrm>
            <a:off x="7263079" y="1817882"/>
            <a:ext cx="401040" cy="316316"/>
          </a:xfrm>
          <a:prstGeom prst="hexagon">
            <a:avLst/>
          </a:prstGeom>
          <a:scene3d>
            <a:camera prst="orthographicFront">
              <a:rot lat="600004" lon="600000" rev="0"/>
            </a:camera>
            <a:lightRig rig="threePt" dir="t"/>
          </a:scene3d>
        </p:spPr>
      </p:pic>
      <p:sp>
        <p:nvSpPr>
          <p:cNvPr id="88" name="Rectangle 87"/>
          <p:cNvSpPr/>
          <p:nvPr/>
        </p:nvSpPr>
        <p:spPr>
          <a:xfrm>
            <a:off x="6060002" y="1052420"/>
            <a:ext cx="3068442" cy="991333"/>
          </a:xfrm>
          <a:prstGeom prst="rect">
            <a:avLst/>
          </a:prstGeom>
          <a:gradFill>
            <a:gsLst>
              <a:gs pos="26000">
                <a:schemeClr val="accent5">
                  <a:lumMod val="74000"/>
                  <a:lumOff val="26000"/>
                  <a:alpha val="60000"/>
                </a:schemeClr>
              </a:gs>
              <a:gs pos="95000">
                <a:schemeClr val="bg1">
                  <a:lumMod val="50000"/>
                </a:schemeClr>
              </a:gs>
            </a:gsLst>
            <a:path path="circle">
              <a:fillToRect l="50000" t="-80000" r="50000" b="180000"/>
            </a:path>
          </a:gradFill>
          <a:ln>
            <a:solidFill>
              <a:schemeClr val="tx1">
                <a:alpha val="99000"/>
              </a:schemeClr>
            </a:solidFill>
          </a:ln>
          <a:scene3d>
            <a:camera prst="orthographicFront">
              <a:rot lat="19106330" lon="2515816" rev="19752584"/>
            </a:camera>
            <a:lightRig rig="threePt" dir="t"/>
          </a:scene3d>
          <a:sp3d>
            <a:bevelT w="152400" h="50800" prst="softRound"/>
          </a:sp3d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3" name="Rectangle 82"/>
          <p:cNvSpPr/>
          <p:nvPr/>
        </p:nvSpPr>
        <p:spPr>
          <a:xfrm>
            <a:off x="8376628" y="5251861"/>
            <a:ext cx="3068442" cy="991333"/>
          </a:xfrm>
          <a:prstGeom prst="rect">
            <a:avLst/>
          </a:prstGeom>
          <a:gradFill flip="none" rotWithShape="1">
            <a:gsLst>
              <a:gs pos="56000">
                <a:schemeClr val="accent3">
                  <a:alpha val="9000"/>
                  <a:lumMod val="0"/>
                  <a:lumOff val="100000"/>
                </a:schemeClr>
              </a:gs>
              <a:gs pos="96000">
                <a:schemeClr val="accent3">
                  <a:lumMod val="45000"/>
                  <a:lumOff val="55000"/>
                </a:schemeClr>
              </a:gs>
              <a:gs pos="24000">
                <a:schemeClr val="accent3">
                  <a:lumMod val="30000"/>
                  <a:lumOff val="70000"/>
                </a:schemeClr>
              </a:gs>
            </a:gsLst>
            <a:path path="rect">
              <a:fillToRect l="50000" t="50000" r="50000" b="50000"/>
            </a:path>
            <a:tileRect/>
          </a:gradFill>
          <a:ln>
            <a:solidFill>
              <a:schemeClr val="tx1">
                <a:alpha val="99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4" name="Rectangle 83"/>
          <p:cNvSpPr/>
          <p:nvPr/>
        </p:nvSpPr>
        <p:spPr>
          <a:xfrm>
            <a:off x="9375111" y="5283664"/>
            <a:ext cx="1195754" cy="919336"/>
          </a:xfrm>
          <a:prstGeom prst="rect">
            <a:avLst/>
          </a:prstGeom>
          <a:pattFill prst="pct60">
            <a:fgClr>
              <a:schemeClr val="accent6">
                <a:lumMod val="20000"/>
                <a:lumOff val="80000"/>
              </a:schemeClr>
            </a:fgClr>
            <a:bgClr>
              <a:schemeClr val="bg1"/>
            </a:bgClr>
          </a:pattFill>
          <a:ln>
            <a:solidFill>
              <a:schemeClr val="accent1">
                <a:shade val="50000"/>
                <a:alpha val="9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77" name="Group 76"/>
          <p:cNvGrpSpPr/>
          <p:nvPr/>
        </p:nvGrpSpPr>
        <p:grpSpPr>
          <a:xfrm>
            <a:off x="8578633" y="2356925"/>
            <a:ext cx="849895" cy="622089"/>
            <a:chOff x="8578631" y="2356923"/>
            <a:chExt cx="849895" cy="622089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8671860" y="2822942"/>
              <a:ext cx="688408" cy="0"/>
            </a:xfrm>
            <a:prstGeom prst="line">
              <a:avLst/>
            </a:prstGeom>
            <a:ln w="12700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" name="Group 75"/>
            <p:cNvGrpSpPr/>
            <p:nvPr/>
          </p:nvGrpSpPr>
          <p:grpSpPr>
            <a:xfrm>
              <a:off x="8578631" y="2356923"/>
              <a:ext cx="849895" cy="622089"/>
              <a:chOff x="8594101" y="2342022"/>
              <a:chExt cx="849895" cy="622089"/>
            </a:xfrm>
          </p:grpSpPr>
          <p:grpSp>
            <p:nvGrpSpPr>
              <p:cNvPr id="75" name="Group 74"/>
              <p:cNvGrpSpPr/>
              <p:nvPr/>
            </p:nvGrpSpPr>
            <p:grpSpPr>
              <a:xfrm>
                <a:off x="8684993" y="2342022"/>
                <a:ext cx="679475" cy="513869"/>
                <a:chOff x="8684993" y="2342022"/>
                <a:chExt cx="679475" cy="513869"/>
              </a:xfrm>
            </p:grpSpPr>
            <p:sp>
              <p:nvSpPr>
                <p:cNvPr id="43" name="Freeform 42"/>
                <p:cNvSpPr/>
                <p:nvPr/>
              </p:nvSpPr>
              <p:spPr>
                <a:xfrm>
                  <a:off x="8692221" y="2395727"/>
                  <a:ext cx="672247" cy="419759"/>
                </a:xfrm>
                <a:custGeom>
                  <a:avLst/>
                  <a:gdLst>
                    <a:gd name="connsiteX0" fmla="*/ 0 w 672247"/>
                    <a:gd name="connsiteY0" fmla="*/ 405302 h 419759"/>
                    <a:gd name="connsiteX1" fmla="*/ 90356 w 672247"/>
                    <a:gd name="connsiteY1" fmla="*/ 390845 h 419759"/>
                    <a:gd name="connsiteX2" fmla="*/ 108427 w 672247"/>
                    <a:gd name="connsiteY2" fmla="*/ 314946 h 419759"/>
                    <a:gd name="connsiteX3" fmla="*/ 119270 w 672247"/>
                    <a:gd name="connsiteY3" fmla="*/ 394459 h 419759"/>
                    <a:gd name="connsiteX4" fmla="*/ 169869 w 672247"/>
                    <a:gd name="connsiteY4" fmla="*/ 387231 h 419759"/>
                    <a:gd name="connsiteX5" fmla="*/ 180712 w 672247"/>
                    <a:gd name="connsiteY5" fmla="*/ 408916 h 419759"/>
                    <a:gd name="connsiteX6" fmla="*/ 202397 w 672247"/>
                    <a:gd name="connsiteY6" fmla="*/ 372774 h 419759"/>
                    <a:gd name="connsiteX7" fmla="*/ 234925 w 672247"/>
                    <a:gd name="connsiteY7" fmla="*/ 401687 h 419759"/>
                    <a:gd name="connsiteX8" fmla="*/ 234925 w 672247"/>
                    <a:gd name="connsiteY8" fmla="*/ 282418 h 419759"/>
                    <a:gd name="connsiteX9" fmla="*/ 260225 w 672247"/>
                    <a:gd name="connsiteY9" fmla="*/ 343860 h 419759"/>
                    <a:gd name="connsiteX10" fmla="*/ 252996 w 672247"/>
                    <a:gd name="connsiteY10" fmla="*/ 231819 h 419759"/>
                    <a:gd name="connsiteX11" fmla="*/ 249382 w 672247"/>
                    <a:gd name="connsiteY11" fmla="*/ 170377 h 419759"/>
                    <a:gd name="connsiteX12" fmla="*/ 274682 w 672247"/>
                    <a:gd name="connsiteY12" fmla="*/ 231819 h 419759"/>
                    <a:gd name="connsiteX13" fmla="*/ 296367 w 672247"/>
                    <a:gd name="connsiteY13" fmla="*/ 390845 h 419759"/>
                    <a:gd name="connsiteX14" fmla="*/ 332509 w 672247"/>
                    <a:gd name="connsiteY14" fmla="*/ 354702 h 419759"/>
                    <a:gd name="connsiteX15" fmla="*/ 357809 w 672247"/>
                    <a:gd name="connsiteY15" fmla="*/ 387231 h 419759"/>
                    <a:gd name="connsiteX16" fmla="*/ 393951 w 672247"/>
                    <a:gd name="connsiteY16" fmla="*/ 380002 h 419759"/>
                    <a:gd name="connsiteX17" fmla="*/ 393951 w 672247"/>
                    <a:gd name="connsiteY17" fmla="*/ 336631 h 419759"/>
                    <a:gd name="connsiteX18" fmla="*/ 390337 w 672247"/>
                    <a:gd name="connsiteY18" fmla="*/ 14965 h 419759"/>
                    <a:gd name="connsiteX19" fmla="*/ 408408 w 672247"/>
                    <a:gd name="connsiteY19" fmla="*/ 87249 h 419759"/>
                    <a:gd name="connsiteX20" fmla="*/ 426479 w 672247"/>
                    <a:gd name="connsiteY20" fmla="*/ 387231 h 419759"/>
                    <a:gd name="connsiteX21" fmla="*/ 469850 w 672247"/>
                    <a:gd name="connsiteY21" fmla="*/ 383616 h 419759"/>
                    <a:gd name="connsiteX22" fmla="*/ 495150 w 672247"/>
                    <a:gd name="connsiteY22" fmla="*/ 401687 h 419759"/>
                    <a:gd name="connsiteX23" fmla="*/ 531292 w 672247"/>
                    <a:gd name="connsiteY23" fmla="*/ 376388 h 419759"/>
                    <a:gd name="connsiteX24" fmla="*/ 549363 w 672247"/>
                    <a:gd name="connsiteY24" fmla="*/ 387231 h 419759"/>
                    <a:gd name="connsiteX25" fmla="*/ 607191 w 672247"/>
                    <a:gd name="connsiteY25" fmla="*/ 372774 h 419759"/>
                    <a:gd name="connsiteX26" fmla="*/ 636105 w 672247"/>
                    <a:gd name="connsiteY26" fmla="*/ 390845 h 419759"/>
                    <a:gd name="connsiteX27" fmla="*/ 672247 w 672247"/>
                    <a:gd name="connsiteY27" fmla="*/ 419759 h 4197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672247" h="419759">
                      <a:moveTo>
                        <a:pt x="0" y="405302"/>
                      </a:moveTo>
                      <a:cubicBezTo>
                        <a:pt x="36142" y="405603"/>
                        <a:pt x="72285" y="405904"/>
                        <a:pt x="90356" y="390845"/>
                      </a:cubicBezTo>
                      <a:cubicBezTo>
                        <a:pt x="108427" y="375786"/>
                        <a:pt x="103608" y="314344"/>
                        <a:pt x="108427" y="314946"/>
                      </a:cubicBezTo>
                      <a:cubicBezTo>
                        <a:pt x="113246" y="315548"/>
                        <a:pt x="109030" y="382412"/>
                        <a:pt x="119270" y="394459"/>
                      </a:cubicBezTo>
                      <a:cubicBezTo>
                        <a:pt x="129510" y="406506"/>
                        <a:pt x="159629" y="384822"/>
                        <a:pt x="169869" y="387231"/>
                      </a:cubicBezTo>
                      <a:cubicBezTo>
                        <a:pt x="180109" y="389640"/>
                        <a:pt x="175291" y="411326"/>
                        <a:pt x="180712" y="408916"/>
                      </a:cubicBezTo>
                      <a:cubicBezTo>
                        <a:pt x="186133" y="406507"/>
                        <a:pt x="193362" y="373979"/>
                        <a:pt x="202397" y="372774"/>
                      </a:cubicBezTo>
                      <a:cubicBezTo>
                        <a:pt x="211432" y="371569"/>
                        <a:pt x="229504" y="416746"/>
                        <a:pt x="234925" y="401687"/>
                      </a:cubicBezTo>
                      <a:cubicBezTo>
                        <a:pt x="240346" y="386628"/>
                        <a:pt x="230708" y="292056"/>
                        <a:pt x="234925" y="282418"/>
                      </a:cubicBezTo>
                      <a:cubicBezTo>
                        <a:pt x="239142" y="272780"/>
                        <a:pt x="257213" y="352293"/>
                        <a:pt x="260225" y="343860"/>
                      </a:cubicBezTo>
                      <a:cubicBezTo>
                        <a:pt x="263237" y="335427"/>
                        <a:pt x="254803" y="260733"/>
                        <a:pt x="252996" y="231819"/>
                      </a:cubicBezTo>
                      <a:cubicBezTo>
                        <a:pt x="251189" y="202905"/>
                        <a:pt x="245768" y="170377"/>
                        <a:pt x="249382" y="170377"/>
                      </a:cubicBezTo>
                      <a:cubicBezTo>
                        <a:pt x="252996" y="170377"/>
                        <a:pt x="266851" y="195074"/>
                        <a:pt x="274682" y="231819"/>
                      </a:cubicBezTo>
                      <a:cubicBezTo>
                        <a:pt x="282513" y="268564"/>
                        <a:pt x="286729" y="370364"/>
                        <a:pt x="296367" y="390845"/>
                      </a:cubicBezTo>
                      <a:cubicBezTo>
                        <a:pt x="306005" y="411326"/>
                        <a:pt x="322269" y="355304"/>
                        <a:pt x="332509" y="354702"/>
                      </a:cubicBezTo>
                      <a:cubicBezTo>
                        <a:pt x="342749" y="354100"/>
                        <a:pt x="347569" y="383014"/>
                        <a:pt x="357809" y="387231"/>
                      </a:cubicBezTo>
                      <a:cubicBezTo>
                        <a:pt x="368049" y="391448"/>
                        <a:pt x="387927" y="388435"/>
                        <a:pt x="393951" y="380002"/>
                      </a:cubicBezTo>
                      <a:cubicBezTo>
                        <a:pt x="399975" y="371569"/>
                        <a:pt x="394553" y="397470"/>
                        <a:pt x="393951" y="336631"/>
                      </a:cubicBezTo>
                      <a:cubicBezTo>
                        <a:pt x="393349" y="275792"/>
                        <a:pt x="387928" y="56529"/>
                        <a:pt x="390337" y="14965"/>
                      </a:cubicBezTo>
                      <a:cubicBezTo>
                        <a:pt x="392747" y="-26599"/>
                        <a:pt x="402384" y="25205"/>
                        <a:pt x="408408" y="87249"/>
                      </a:cubicBezTo>
                      <a:cubicBezTo>
                        <a:pt x="414432" y="149293"/>
                        <a:pt x="416239" y="337837"/>
                        <a:pt x="426479" y="387231"/>
                      </a:cubicBezTo>
                      <a:cubicBezTo>
                        <a:pt x="436719" y="436625"/>
                        <a:pt x="458405" y="381207"/>
                        <a:pt x="469850" y="383616"/>
                      </a:cubicBezTo>
                      <a:cubicBezTo>
                        <a:pt x="481295" y="386025"/>
                        <a:pt x="484910" y="402892"/>
                        <a:pt x="495150" y="401687"/>
                      </a:cubicBezTo>
                      <a:cubicBezTo>
                        <a:pt x="505390" y="400482"/>
                        <a:pt x="522257" y="378797"/>
                        <a:pt x="531292" y="376388"/>
                      </a:cubicBezTo>
                      <a:cubicBezTo>
                        <a:pt x="540327" y="373979"/>
                        <a:pt x="536713" y="387833"/>
                        <a:pt x="549363" y="387231"/>
                      </a:cubicBezTo>
                      <a:cubicBezTo>
                        <a:pt x="562013" y="386629"/>
                        <a:pt x="592734" y="372172"/>
                        <a:pt x="607191" y="372774"/>
                      </a:cubicBezTo>
                      <a:cubicBezTo>
                        <a:pt x="621648" y="373376"/>
                        <a:pt x="625262" y="383014"/>
                        <a:pt x="636105" y="390845"/>
                      </a:cubicBezTo>
                      <a:cubicBezTo>
                        <a:pt x="646948" y="398676"/>
                        <a:pt x="659597" y="409217"/>
                        <a:pt x="672247" y="419759"/>
                      </a:cubicBez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cxnSp>
              <p:nvCxnSpPr>
                <p:cNvPr id="49" name="Straight Connector 48"/>
                <p:cNvCxnSpPr/>
                <p:nvPr/>
              </p:nvCxnSpPr>
              <p:spPr>
                <a:xfrm>
                  <a:off x="8742822" y="2819891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/>
                <p:cNvCxnSpPr/>
                <p:nvPr/>
              </p:nvCxnSpPr>
              <p:spPr>
                <a:xfrm>
                  <a:off x="8851851" y="2819843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/>
                <p:cNvCxnSpPr/>
                <p:nvPr/>
              </p:nvCxnSpPr>
              <p:spPr>
                <a:xfrm>
                  <a:off x="8960881" y="2819843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Connector 51"/>
                <p:cNvCxnSpPr/>
                <p:nvPr/>
              </p:nvCxnSpPr>
              <p:spPr>
                <a:xfrm>
                  <a:off x="9055453" y="2817386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/>
                <p:cNvCxnSpPr/>
                <p:nvPr/>
              </p:nvCxnSpPr>
              <p:spPr>
                <a:xfrm>
                  <a:off x="9150025" y="2817386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/>
                <p:cNvCxnSpPr/>
                <p:nvPr/>
              </p:nvCxnSpPr>
              <p:spPr>
                <a:xfrm>
                  <a:off x="9233755" y="2817386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/>
                <p:cNvCxnSpPr/>
                <p:nvPr/>
              </p:nvCxnSpPr>
              <p:spPr>
                <a:xfrm>
                  <a:off x="9324714" y="2817386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/>
                <p:cNvCxnSpPr/>
                <p:nvPr/>
              </p:nvCxnSpPr>
              <p:spPr>
                <a:xfrm flipV="1">
                  <a:off x="8684993" y="2342022"/>
                  <a:ext cx="0" cy="473464"/>
                </a:xfrm>
                <a:prstGeom prst="line">
                  <a:avLst/>
                </a:prstGeom>
                <a:ln w="158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0" name="TextBox 59"/>
              <p:cNvSpPr txBox="1"/>
              <p:nvPr/>
            </p:nvSpPr>
            <p:spPr>
              <a:xfrm>
                <a:off x="8594101" y="2802139"/>
                <a:ext cx="271228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200</a:t>
                </a:r>
                <a:endParaRPr lang="en-IN" sz="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1" name="TextBox 60"/>
              <p:cNvSpPr txBox="1"/>
              <p:nvPr/>
            </p:nvSpPr>
            <p:spPr>
              <a:xfrm>
                <a:off x="8716237" y="2810223"/>
                <a:ext cx="271228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400</a:t>
                </a:r>
                <a:endParaRPr lang="en-IN" sz="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2" name="TextBox 61"/>
              <p:cNvSpPr txBox="1"/>
              <p:nvPr/>
            </p:nvSpPr>
            <p:spPr>
              <a:xfrm>
                <a:off x="8826552" y="2810223"/>
                <a:ext cx="271228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600</a:t>
                </a:r>
                <a:endParaRPr lang="en-IN" sz="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3" name="TextBox 62"/>
              <p:cNvSpPr txBox="1"/>
              <p:nvPr/>
            </p:nvSpPr>
            <p:spPr>
              <a:xfrm>
                <a:off x="8942063" y="2810223"/>
                <a:ext cx="271228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800</a:t>
                </a:r>
                <a:endParaRPr lang="en-IN" sz="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4" name="TextBox 63"/>
              <p:cNvSpPr txBox="1"/>
              <p:nvPr/>
            </p:nvSpPr>
            <p:spPr>
              <a:xfrm>
                <a:off x="9031468" y="2802139"/>
                <a:ext cx="300082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1000</a:t>
                </a:r>
                <a:endParaRPr lang="en-IN" sz="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5" name="TextBox 64"/>
              <p:cNvSpPr txBox="1"/>
              <p:nvPr/>
            </p:nvSpPr>
            <p:spPr>
              <a:xfrm>
                <a:off x="9143914" y="2806066"/>
                <a:ext cx="300082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1200</a:t>
                </a:r>
                <a:endParaRPr lang="en-IN" sz="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80" name="Group 79"/>
          <p:cNvGrpSpPr/>
          <p:nvPr/>
        </p:nvGrpSpPr>
        <p:grpSpPr>
          <a:xfrm>
            <a:off x="9349000" y="3735670"/>
            <a:ext cx="1216389" cy="755374"/>
            <a:chOff x="5318699" y="3130552"/>
            <a:chExt cx="1216389" cy="755374"/>
          </a:xfrm>
        </p:grpSpPr>
        <p:sp>
          <p:nvSpPr>
            <p:cNvPr id="7" name="Rectangle 6"/>
            <p:cNvSpPr/>
            <p:nvPr/>
          </p:nvSpPr>
          <p:spPr>
            <a:xfrm>
              <a:off x="5318699" y="3130552"/>
              <a:ext cx="1216389" cy="755374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scene3d>
              <a:camera prst="orthographicFront"/>
              <a:lightRig rig="threePt" dir="t"/>
            </a:scene3d>
            <a:sp3d>
              <a:bevelT/>
              <a:bevelB prst="slope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696485" y="3227015"/>
              <a:ext cx="737252" cy="56244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79" name="Group 78"/>
            <p:cNvGrpSpPr/>
            <p:nvPr/>
          </p:nvGrpSpPr>
          <p:grpSpPr>
            <a:xfrm>
              <a:off x="5389948" y="3258820"/>
              <a:ext cx="279295" cy="123709"/>
              <a:chOff x="8291040" y="2395727"/>
              <a:chExt cx="279295" cy="123709"/>
            </a:xfrm>
          </p:grpSpPr>
          <p:sp>
            <p:nvSpPr>
              <p:cNvPr id="68" name="Flowchart: Preparation 67"/>
              <p:cNvSpPr/>
              <p:nvPr/>
            </p:nvSpPr>
            <p:spPr>
              <a:xfrm>
                <a:off x="8396851" y="2395727"/>
                <a:ext cx="57828" cy="45719"/>
              </a:xfrm>
              <a:prstGeom prst="flowChartPreparation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69" name="Flowchart: Preparation 68"/>
              <p:cNvSpPr/>
              <p:nvPr/>
            </p:nvSpPr>
            <p:spPr>
              <a:xfrm>
                <a:off x="8512507" y="2397597"/>
                <a:ext cx="57828" cy="45719"/>
              </a:xfrm>
              <a:prstGeom prst="flowChartPreparation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0" name="Flowchart: Preparation 69"/>
              <p:cNvSpPr/>
              <p:nvPr/>
            </p:nvSpPr>
            <p:spPr>
              <a:xfrm>
                <a:off x="8296253" y="2471288"/>
                <a:ext cx="57828" cy="45719"/>
              </a:xfrm>
              <a:prstGeom prst="flowChartPreparation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1" name="Flowchart: Preparation 70"/>
              <p:cNvSpPr/>
              <p:nvPr/>
            </p:nvSpPr>
            <p:spPr>
              <a:xfrm>
                <a:off x="8393839" y="2471289"/>
                <a:ext cx="57828" cy="45719"/>
              </a:xfrm>
              <a:prstGeom prst="flowChartPreparation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2" name="Flowchart: Preparation 71"/>
              <p:cNvSpPr/>
              <p:nvPr/>
            </p:nvSpPr>
            <p:spPr>
              <a:xfrm>
                <a:off x="8509890" y="2473717"/>
                <a:ext cx="57828" cy="45719"/>
              </a:xfrm>
              <a:prstGeom prst="flowChartPreparation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3" name="Flowchart: Preparation 72"/>
              <p:cNvSpPr/>
              <p:nvPr/>
            </p:nvSpPr>
            <p:spPr>
              <a:xfrm>
                <a:off x="8291040" y="2398231"/>
                <a:ext cx="57828" cy="45719"/>
              </a:xfrm>
              <a:prstGeom prst="flowChartPreparation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pic>
          <p:nvPicPr>
            <p:cNvPr id="78" name="Picture 7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669243" y="3258820"/>
              <a:ext cx="764494" cy="562449"/>
            </a:xfrm>
            <a:prstGeom prst="rect">
              <a:avLst/>
            </a:prstGeom>
          </p:spPr>
        </p:pic>
      </p:grpSp>
      <p:sp>
        <p:nvSpPr>
          <p:cNvPr id="81" name="Rectangle 80"/>
          <p:cNvSpPr/>
          <p:nvPr/>
        </p:nvSpPr>
        <p:spPr>
          <a:xfrm>
            <a:off x="9868868" y="2010437"/>
            <a:ext cx="1393038" cy="45719"/>
          </a:xfrm>
          <a:prstGeom prst="rect">
            <a:avLst/>
          </a:prstGeom>
          <a:scene3d>
            <a:camera prst="orthographicFront"/>
            <a:lightRig rig="threePt" dir="t"/>
          </a:scene3d>
          <a:sp3d prstMaterial="dkEdge">
            <a:bevelT w="101600" prst="riblet"/>
            <a:bevelB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82" name="Picture 81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40423B"/>
              </a:clrFrom>
              <a:clrTo>
                <a:srgbClr val="40423B">
                  <a:alpha val="0"/>
                </a:srgbClr>
              </a:clrTo>
            </a:clrChange>
          </a:blip>
          <a:srcRect l="20396" t="35392" r="20491" b="20028"/>
          <a:stretch/>
        </p:blipFill>
        <p:spPr>
          <a:xfrm>
            <a:off x="9675468" y="5431865"/>
            <a:ext cx="620972" cy="489785"/>
          </a:xfrm>
          <a:prstGeom prst="hexagon">
            <a:avLst/>
          </a:prstGeom>
          <a:scene3d>
            <a:camera prst="orthographicFront">
              <a:rot lat="600004" lon="600000" rev="0"/>
            </a:camera>
            <a:lightRig rig="threePt" dir="t"/>
          </a:scene3d>
        </p:spPr>
      </p:pic>
      <p:pic>
        <p:nvPicPr>
          <p:cNvPr id="93" name="Picture 9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61009">
            <a:off x="8196822" y="413834"/>
            <a:ext cx="2446853" cy="797887"/>
          </a:xfrm>
          <a:prstGeom prst="rect">
            <a:avLst/>
          </a:prstGeom>
          <a:scene3d>
            <a:camera prst="orthographicFront">
              <a:rot lat="18599996" lon="300000" rev="0"/>
            </a:camera>
            <a:lightRig rig="contrasting" dir="t"/>
          </a:scene3d>
          <a:sp3d prstMaterial="dkEdge">
            <a:bevelT w="152400" h="50800" prst="softRound"/>
            <a:bevelB prst="angle"/>
          </a:sp3d>
        </p:spPr>
      </p:pic>
      <p:sp>
        <p:nvSpPr>
          <p:cNvPr id="95" name="Rectangle 94"/>
          <p:cNvSpPr/>
          <p:nvPr/>
        </p:nvSpPr>
        <p:spPr>
          <a:xfrm>
            <a:off x="7524349" y="3549430"/>
            <a:ext cx="2651020" cy="1662239"/>
          </a:xfrm>
          <a:prstGeom prst="rect">
            <a:avLst/>
          </a:prstGeom>
          <a:solidFill>
            <a:srgbClr val="DAC4C6"/>
          </a:solidFill>
          <a:scene3d>
            <a:camera prst="orthographicFront"/>
            <a:lightRig rig="threePt" dir="t"/>
          </a:scene3d>
          <a:sp3d>
            <a:bevelT/>
            <a:bevelB prst="slope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6" name="Rectangle 95"/>
          <p:cNvSpPr/>
          <p:nvPr/>
        </p:nvSpPr>
        <p:spPr>
          <a:xfrm>
            <a:off x="7365524" y="3694748"/>
            <a:ext cx="1606781" cy="123769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97" name="Group 96"/>
          <p:cNvGrpSpPr/>
          <p:nvPr/>
        </p:nvGrpSpPr>
        <p:grpSpPr>
          <a:xfrm>
            <a:off x="6008496" y="5486039"/>
            <a:ext cx="608700" cy="272228"/>
            <a:chOff x="8291040" y="2395727"/>
            <a:chExt cx="279295" cy="123709"/>
          </a:xfrm>
        </p:grpSpPr>
        <p:sp>
          <p:nvSpPr>
            <p:cNvPr id="99" name="Flowchart: Preparation 98"/>
            <p:cNvSpPr/>
            <p:nvPr/>
          </p:nvSpPr>
          <p:spPr>
            <a:xfrm>
              <a:off x="8396851" y="2395727"/>
              <a:ext cx="57828" cy="45719"/>
            </a:xfrm>
            <a:prstGeom prst="flowChartPreparation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0" name="Flowchart: Preparation 99"/>
            <p:cNvSpPr/>
            <p:nvPr/>
          </p:nvSpPr>
          <p:spPr>
            <a:xfrm>
              <a:off x="8512507" y="2397597"/>
              <a:ext cx="57828" cy="45719"/>
            </a:xfrm>
            <a:prstGeom prst="flowChartPreparation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1" name="Flowchart: Preparation 100"/>
            <p:cNvSpPr/>
            <p:nvPr/>
          </p:nvSpPr>
          <p:spPr>
            <a:xfrm>
              <a:off x="8296253" y="2471288"/>
              <a:ext cx="57828" cy="45719"/>
            </a:xfrm>
            <a:prstGeom prst="flowChartPreparation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2" name="Flowchart: Preparation 101"/>
            <p:cNvSpPr/>
            <p:nvPr/>
          </p:nvSpPr>
          <p:spPr>
            <a:xfrm>
              <a:off x="8393839" y="2471289"/>
              <a:ext cx="57828" cy="45719"/>
            </a:xfrm>
            <a:prstGeom prst="flowChartPreparation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3" name="Flowchart: Preparation 102"/>
            <p:cNvSpPr/>
            <p:nvPr/>
          </p:nvSpPr>
          <p:spPr>
            <a:xfrm>
              <a:off x="8509890" y="2473717"/>
              <a:ext cx="57828" cy="45719"/>
            </a:xfrm>
            <a:prstGeom prst="flowChartPreparation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4" name="Flowchart: Preparation 103"/>
            <p:cNvSpPr/>
            <p:nvPr/>
          </p:nvSpPr>
          <p:spPr>
            <a:xfrm>
              <a:off x="8291040" y="2398231"/>
              <a:ext cx="57828" cy="45719"/>
            </a:xfrm>
            <a:prstGeom prst="flowChartPreparation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115" name="Oval 114"/>
          <p:cNvSpPr/>
          <p:nvPr/>
        </p:nvSpPr>
        <p:spPr>
          <a:xfrm>
            <a:off x="6778258" y="5409454"/>
            <a:ext cx="70471" cy="40655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05" name="Picture 104"/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100000"/>
                    </a14:imgEffect>
                    <a14:imgEffect>
                      <a14:colorTemperature colorTemp="6400"/>
                    </a14:imgEffect>
                    <a14:imgEffect>
                      <a14:saturation sat="40000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42797" y="5413211"/>
            <a:ext cx="856897" cy="598674"/>
          </a:xfrm>
          <a:prstGeom prst="rect">
            <a:avLst/>
          </a:prstGeom>
        </p:spPr>
      </p:pic>
      <p:sp>
        <p:nvSpPr>
          <p:cNvPr id="120" name="Can 119"/>
          <p:cNvSpPr/>
          <p:nvPr/>
        </p:nvSpPr>
        <p:spPr>
          <a:xfrm rot="5400000">
            <a:off x="6767384" y="5505198"/>
            <a:ext cx="278211" cy="173299"/>
          </a:xfrm>
          <a:prstGeom prst="can">
            <a:avLst/>
          </a:prstGeom>
          <a:gradFill flip="none" rotWithShape="1">
            <a:gsLst>
              <a:gs pos="74000">
                <a:schemeClr val="bg1">
                  <a:lumMod val="95000"/>
                </a:schemeClr>
              </a:gs>
              <a:gs pos="35000">
                <a:schemeClr val="accent3">
                  <a:lumMod val="0"/>
                  <a:lumOff val="100000"/>
                </a:schemeClr>
              </a:gs>
              <a:gs pos="83000">
                <a:schemeClr val="accent3">
                  <a:lumMod val="100000"/>
                </a:schemeClr>
              </a:gs>
            </a:gsLst>
            <a:lin ang="10800000" scaled="1"/>
            <a:tileRect/>
          </a:gra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7" name="Flowchart: Display 56"/>
          <p:cNvSpPr/>
          <p:nvPr/>
        </p:nvSpPr>
        <p:spPr>
          <a:xfrm rot="5400000">
            <a:off x="3201846" y="2524727"/>
            <a:ext cx="353940" cy="223303"/>
          </a:xfrm>
          <a:prstGeom prst="flowChartDisplay">
            <a:avLst/>
          </a:prstGeom>
          <a:gradFill flip="none" rotWithShape="1">
            <a:gsLst>
              <a:gs pos="0">
                <a:schemeClr val="accent4">
                  <a:lumMod val="67000"/>
                </a:schemeClr>
              </a:gs>
              <a:gs pos="78000">
                <a:schemeClr val="accent4">
                  <a:lumMod val="97000"/>
                  <a:lumOff val="3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  <a:scene3d>
            <a:camera prst="orthographicFront"/>
            <a:lightRig rig="threePt" dir="t"/>
          </a:scene3d>
          <a:sp3d>
            <a:bevelT/>
            <a:bevelB w="139700" h="139700" prst="divo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8" name="Rounded Rectangle 57"/>
          <p:cNvSpPr/>
          <p:nvPr/>
        </p:nvSpPr>
        <p:spPr>
          <a:xfrm>
            <a:off x="3220860" y="2224696"/>
            <a:ext cx="315757" cy="307098"/>
          </a:xfrm>
          <a:prstGeom prst="roundRect">
            <a:avLst/>
          </a:prstGeom>
          <a:solidFill>
            <a:srgbClr val="FFC000">
              <a:alpha val="76000"/>
            </a:srgbClr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6" name="Flowchart: Display 65"/>
          <p:cNvSpPr/>
          <p:nvPr/>
        </p:nvSpPr>
        <p:spPr>
          <a:xfrm rot="5400000">
            <a:off x="2870559" y="2524728"/>
            <a:ext cx="353940" cy="223303"/>
          </a:xfrm>
          <a:prstGeom prst="flowChartDisplay">
            <a:avLst/>
          </a:prstGeom>
          <a:gradFill flip="none" rotWithShape="1">
            <a:gsLst>
              <a:gs pos="0">
                <a:schemeClr val="accent4">
                  <a:lumMod val="67000"/>
                </a:schemeClr>
              </a:gs>
              <a:gs pos="78000">
                <a:schemeClr val="accent4">
                  <a:lumMod val="97000"/>
                  <a:lumOff val="3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  <a:scene3d>
            <a:camera prst="orthographicFront"/>
            <a:lightRig rig="threePt" dir="t"/>
          </a:scene3d>
          <a:sp3d>
            <a:bevelT/>
            <a:bevelB w="139700" h="139700" prst="divo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7" name="Rounded Rectangle 66"/>
          <p:cNvSpPr/>
          <p:nvPr/>
        </p:nvSpPr>
        <p:spPr>
          <a:xfrm>
            <a:off x="2897644" y="2223016"/>
            <a:ext cx="315757" cy="307098"/>
          </a:xfrm>
          <a:prstGeom prst="roundRect">
            <a:avLst/>
          </a:prstGeom>
          <a:solidFill>
            <a:srgbClr val="FFC000">
              <a:alpha val="76000"/>
            </a:srgbClr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4" name="Rectangle 73"/>
          <p:cNvSpPr/>
          <p:nvPr/>
        </p:nvSpPr>
        <p:spPr>
          <a:xfrm>
            <a:off x="2792126" y="555981"/>
            <a:ext cx="3114989" cy="1868994"/>
          </a:xfrm>
          <a:prstGeom prst="rect">
            <a:avLst/>
          </a:prstGeom>
          <a:gradFill>
            <a:gsLst>
              <a:gs pos="97000">
                <a:schemeClr val="bg2">
                  <a:lumMod val="5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scene3d>
            <a:camera prst="orthographicFront"/>
            <a:lightRig rig="threePt" dir="t"/>
          </a:scene3d>
          <a:sp3d>
            <a:bevelT/>
            <a:bevelB prst="slope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5" name="Oval 84"/>
          <p:cNvSpPr/>
          <p:nvPr/>
        </p:nvSpPr>
        <p:spPr>
          <a:xfrm>
            <a:off x="5037931" y="972986"/>
            <a:ext cx="251208" cy="276328"/>
          </a:xfrm>
          <a:prstGeom prst="ellipse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6" name="Rectangle 85"/>
          <p:cNvSpPr/>
          <p:nvPr/>
        </p:nvSpPr>
        <p:spPr>
          <a:xfrm>
            <a:off x="2952897" y="726803"/>
            <a:ext cx="1344610" cy="904352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7" name="Rounded Rectangle 86"/>
          <p:cNvSpPr/>
          <p:nvPr/>
        </p:nvSpPr>
        <p:spPr>
          <a:xfrm>
            <a:off x="5185737" y="2061108"/>
            <a:ext cx="530850" cy="251209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9" name="Rounded Rectangle 88"/>
          <p:cNvSpPr/>
          <p:nvPr/>
        </p:nvSpPr>
        <p:spPr>
          <a:xfrm>
            <a:off x="5058027" y="827290"/>
            <a:ext cx="231112" cy="130629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2" name="Rounded Rectangle 91"/>
          <p:cNvSpPr/>
          <p:nvPr/>
        </p:nvSpPr>
        <p:spPr>
          <a:xfrm>
            <a:off x="4751552" y="1068452"/>
            <a:ext cx="256235" cy="160777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4" name="Rounded Rectangle 93"/>
          <p:cNvSpPr/>
          <p:nvPr/>
        </p:nvSpPr>
        <p:spPr>
          <a:xfrm>
            <a:off x="5073102" y="1249316"/>
            <a:ext cx="251207" cy="160777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8" name="Rounded Rectangle 97"/>
          <p:cNvSpPr/>
          <p:nvPr/>
        </p:nvSpPr>
        <p:spPr>
          <a:xfrm>
            <a:off x="5329337" y="1068449"/>
            <a:ext cx="306472" cy="160778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7" name="Isosceles Triangle 106"/>
          <p:cNvSpPr/>
          <p:nvPr/>
        </p:nvSpPr>
        <p:spPr>
          <a:xfrm rot="10800000">
            <a:off x="5111633" y="1266091"/>
            <a:ext cx="144000" cy="144000"/>
          </a:xfrm>
          <a:prstGeom prst="triangle">
            <a:avLst/>
          </a:prstGeom>
          <a:solidFill>
            <a:schemeClr val="bg1"/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8" name="Isosceles Triangle 107"/>
          <p:cNvSpPr/>
          <p:nvPr/>
        </p:nvSpPr>
        <p:spPr>
          <a:xfrm>
            <a:off x="5101583" y="812219"/>
            <a:ext cx="144000" cy="144000"/>
          </a:xfrm>
          <a:prstGeom prst="triangle">
            <a:avLst/>
          </a:prstGeom>
          <a:solidFill>
            <a:schemeClr val="bg1"/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9" name="Isosceles Triangle 108"/>
          <p:cNvSpPr/>
          <p:nvPr/>
        </p:nvSpPr>
        <p:spPr>
          <a:xfrm rot="16200000">
            <a:off x="4772498" y="1068449"/>
            <a:ext cx="144000" cy="144000"/>
          </a:xfrm>
          <a:prstGeom prst="triangle">
            <a:avLst/>
          </a:prstGeom>
          <a:solidFill>
            <a:schemeClr val="bg1"/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0" name="Isosceles Triangle 109"/>
          <p:cNvSpPr/>
          <p:nvPr/>
        </p:nvSpPr>
        <p:spPr>
          <a:xfrm rot="5400000">
            <a:off x="5434846" y="1085227"/>
            <a:ext cx="144000" cy="144000"/>
          </a:xfrm>
          <a:prstGeom prst="triangle">
            <a:avLst/>
          </a:prstGeom>
          <a:solidFill>
            <a:schemeClr val="bg1"/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1" name="TextBox 110"/>
          <p:cNvSpPr txBox="1"/>
          <p:nvPr/>
        </p:nvSpPr>
        <p:spPr>
          <a:xfrm>
            <a:off x="4960840" y="963293"/>
            <a:ext cx="425390" cy="307777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OK</a:t>
            </a:r>
            <a:endParaRPr lang="en-IN" sz="1400" b="1" dirty="0">
              <a:solidFill>
                <a:schemeClr val="bg1"/>
              </a:solidFill>
            </a:endParaRPr>
          </a:p>
        </p:txBody>
      </p:sp>
      <p:cxnSp>
        <p:nvCxnSpPr>
          <p:cNvPr id="112" name="Straight Connector 111"/>
          <p:cNvCxnSpPr>
            <a:stCxn id="86" idx="1"/>
            <a:endCxn id="86" idx="3"/>
          </p:cNvCxnSpPr>
          <p:nvPr/>
        </p:nvCxnSpPr>
        <p:spPr>
          <a:xfrm>
            <a:off x="2952897" y="1178979"/>
            <a:ext cx="1344610" cy="0"/>
          </a:xfrm>
          <a:prstGeom prst="line">
            <a:avLst/>
          </a:prstGeom>
          <a:ln w="635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5182214" y="2032823"/>
            <a:ext cx="505267" cy="307777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END</a:t>
            </a:r>
            <a:endParaRPr lang="en-IN" sz="1400" b="1" dirty="0">
              <a:solidFill>
                <a:schemeClr val="bg1"/>
              </a:solidFill>
            </a:endParaRPr>
          </a:p>
        </p:txBody>
      </p:sp>
      <p:sp>
        <p:nvSpPr>
          <p:cNvPr id="117" name="Rounded Rectangle 116"/>
          <p:cNvSpPr/>
          <p:nvPr/>
        </p:nvSpPr>
        <p:spPr>
          <a:xfrm>
            <a:off x="4187883" y="2097075"/>
            <a:ext cx="530850" cy="251209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8" name="TextBox 117"/>
          <p:cNvSpPr txBox="1"/>
          <p:nvPr/>
        </p:nvSpPr>
        <p:spPr>
          <a:xfrm>
            <a:off x="4134118" y="2068790"/>
            <a:ext cx="638380" cy="307777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START</a:t>
            </a:r>
            <a:endParaRPr lang="en-IN" sz="1400" b="1" dirty="0">
              <a:solidFill>
                <a:schemeClr val="bg1"/>
              </a:solidFill>
            </a:endParaRPr>
          </a:p>
        </p:txBody>
      </p:sp>
      <p:sp>
        <p:nvSpPr>
          <p:cNvPr id="119" name="Isosceles Triangle 118"/>
          <p:cNvSpPr/>
          <p:nvPr/>
        </p:nvSpPr>
        <p:spPr>
          <a:xfrm rot="10800000">
            <a:off x="3034191" y="2294676"/>
            <a:ext cx="72000" cy="72000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1" name="Isosceles Triangle 120"/>
          <p:cNvSpPr/>
          <p:nvPr/>
        </p:nvSpPr>
        <p:spPr>
          <a:xfrm rot="10800000">
            <a:off x="3317215" y="2286308"/>
            <a:ext cx="72000" cy="72000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2" name="TextBox 121"/>
          <p:cNvSpPr txBox="1"/>
          <p:nvPr/>
        </p:nvSpPr>
        <p:spPr>
          <a:xfrm>
            <a:off x="3157799" y="1644562"/>
            <a:ext cx="109767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Modulator</a:t>
            </a:r>
            <a:endParaRPr lang="en-IN" sz="1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cxnSp>
        <p:nvCxnSpPr>
          <p:cNvPr id="106" name="Straight Connector 105"/>
          <p:cNvCxnSpPr/>
          <p:nvPr/>
        </p:nvCxnSpPr>
        <p:spPr>
          <a:xfrm>
            <a:off x="2951268" y="1492167"/>
            <a:ext cx="336269" cy="0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/>
          <p:cNvCxnSpPr/>
          <p:nvPr/>
        </p:nvCxnSpPr>
        <p:spPr>
          <a:xfrm>
            <a:off x="3287537" y="869232"/>
            <a:ext cx="336269" cy="0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/>
          <p:cNvCxnSpPr/>
          <p:nvPr/>
        </p:nvCxnSpPr>
        <p:spPr>
          <a:xfrm>
            <a:off x="3962896" y="869232"/>
            <a:ext cx="336269" cy="0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/>
          <p:cNvCxnSpPr/>
          <p:nvPr/>
        </p:nvCxnSpPr>
        <p:spPr>
          <a:xfrm>
            <a:off x="3633418" y="1496313"/>
            <a:ext cx="336269" cy="0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/>
          <p:cNvCxnSpPr/>
          <p:nvPr/>
        </p:nvCxnSpPr>
        <p:spPr>
          <a:xfrm>
            <a:off x="3287535" y="863517"/>
            <a:ext cx="0" cy="635718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/>
          <p:cNvCxnSpPr/>
          <p:nvPr/>
        </p:nvCxnSpPr>
        <p:spPr>
          <a:xfrm>
            <a:off x="3979985" y="863517"/>
            <a:ext cx="0" cy="635718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/>
          <p:cNvCxnSpPr/>
          <p:nvPr/>
        </p:nvCxnSpPr>
        <p:spPr>
          <a:xfrm>
            <a:off x="3623804" y="866280"/>
            <a:ext cx="0" cy="635718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Rectangle 132">
            <a:extLst>
              <a:ext uri="{FF2B5EF4-FFF2-40B4-BE49-F238E27FC236}">
                <a16:creationId xmlns:a16="http://schemas.microsoft.com/office/drawing/2014/main" id="{6DA59A8D-6EBF-1772-4870-B37551FF0402}"/>
              </a:ext>
            </a:extLst>
          </p:cNvPr>
          <p:cNvSpPr/>
          <p:nvPr/>
        </p:nvSpPr>
        <p:spPr>
          <a:xfrm rot="2748279">
            <a:off x="599599" y="2982328"/>
            <a:ext cx="190800" cy="972000"/>
          </a:xfrm>
          <a:prstGeom prst="rect">
            <a:avLst/>
          </a:prstGeom>
          <a:solidFill>
            <a:schemeClr val="bg1">
              <a:lumMod val="65000"/>
            </a:schemeClr>
          </a:solidFill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18BC26C2-29DC-7421-05EE-D41DF5D70259}"/>
              </a:ext>
            </a:extLst>
          </p:cNvPr>
          <p:cNvSpPr txBox="1"/>
          <p:nvPr/>
        </p:nvSpPr>
        <p:spPr>
          <a:xfrm>
            <a:off x="1029413" y="3099283"/>
            <a:ext cx="1134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DM 2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82BDA20D-3277-C602-489A-44FCCB61B34F}"/>
              </a:ext>
            </a:extLst>
          </p:cNvPr>
          <p:cNvSpPr/>
          <p:nvPr/>
        </p:nvSpPr>
        <p:spPr>
          <a:xfrm rot="16200000">
            <a:off x="115470" y="4004319"/>
            <a:ext cx="1028241" cy="78186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ED23D3BE-05E3-B4CA-2AFD-A604C98F7A20}"/>
              </a:ext>
            </a:extLst>
          </p:cNvPr>
          <p:cNvSpPr/>
          <p:nvPr/>
        </p:nvSpPr>
        <p:spPr>
          <a:xfrm>
            <a:off x="590495" y="3532945"/>
            <a:ext cx="2124000" cy="78186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7" name="Straight Connector 136"/>
          <p:cNvCxnSpPr/>
          <p:nvPr/>
        </p:nvCxnSpPr>
        <p:spPr>
          <a:xfrm flipV="1">
            <a:off x="3898137" y="3793319"/>
            <a:ext cx="711289" cy="12556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/>
          <p:cNvCxnSpPr/>
          <p:nvPr/>
        </p:nvCxnSpPr>
        <p:spPr>
          <a:xfrm flipV="1">
            <a:off x="3916614" y="3383594"/>
            <a:ext cx="692810" cy="15447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Flowchart: Delay 138">
            <a:extLst>
              <a:ext uri="{FF2B5EF4-FFF2-40B4-BE49-F238E27FC236}">
                <a16:creationId xmlns:a16="http://schemas.microsoft.com/office/drawing/2014/main" id="{C36D569D-CE53-B1E0-5018-D51B0DF9852E}"/>
              </a:ext>
            </a:extLst>
          </p:cNvPr>
          <p:cNvSpPr/>
          <p:nvPr/>
        </p:nvSpPr>
        <p:spPr>
          <a:xfrm>
            <a:off x="3716594" y="3342126"/>
            <a:ext cx="376354" cy="472968"/>
          </a:xfrm>
          <a:prstGeom prst="flowChartDelay">
            <a:avLst/>
          </a:prstGeom>
          <a:gradFill flip="none" rotWithShape="1">
            <a:gsLst>
              <a:gs pos="65000">
                <a:srgbClr val="F868D9"/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path path="circle">
              <a:fillToRect l="50000" t="-80000" r="50000" b="18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DBB3950B-126A-5500-AE12-440A359CA580}"/>
              </a:ext>
            </a:extLst>
          </p:cNvPr>
          <p:cNvGrpSpPr/>
          <p:nvPr/>
        </p:nvGrpSpPr>
        <p:grpSpPr>
          <a:xfrm>
            <a:off x="4329077" y="3323166"/>
            <a:ext cx="541801" cy="570016"/>
            <a:chOff x="8599052" y="1717102"/>
            <a:chExt cx="541801" cy="570016"/>
          </a:xfrm>
        </p:grpSpPr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E3B561DB-6CC4-7192-CD10-00AA2A71E334}"/>
                </a:ext>
              </a:extLst>
            </p:cNvPr>
            <p:cNvSpPr/>
            <p:nvPr/>
          </p:nvSpPr>
          <p:spPr>
            <a:xfrm>
              <a:off x="8617527" y="1754909"/>
              <a:ext cx="463000" cy="47951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BD5C922D-AC8F-D847-7182-E8695C0837E4}"/>
                </a:ext>
              </a:extLst>
            </p:cNvPr>
            <p:cNvCxnSpPr>
              <a:stCxn id="141" idx="0"/>
              <a:endCxn id="141" idx="4"/>
            </p:cNvCxnSpPr>
            <p:nvPr/>
          </p:nvCxnSpPr>
          <p:spPr>
            <a:xfrm>
              <a:off x="8849027" y="1754909"/>
              <a:ext cx="0" cy="4795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0205D202-1A22-9CEC-23E7-F8034D0786E3}"/>
                </a:ext>
              </a:extLst>
            </p:cNvPr>
            <p:cNvCxnSpPr>
              <a:stCxn id="141" idx="2"/>
              <a:endCxn id="141" idx="6"/>
            </p:cNvCxnSpPr>
            <p:nvPr/>
          </p:nvCxnSpPr>
          <p:spPr>
            <a:xfrm>
              <a:off x="8617527" y="1994668"/>
              <a:ext cx="463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92670BD8-CC16-73D3-CC6B-007FE3E41572}"/>
                </a:ext>
              </a:extLst>
            </p:cNvPr>
            <p:cNvSpPr txBox="1"/>
            <p:nvPr/>
          </p:nvSpPr>
          <p:spPr>
            <a:xfrm>
              <a:off x="8599052" y="1717102"/>
              <a:ext cx="2314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DC09F8FD-5852-0161-9C62-C15E8ED213AA}"/>
                </a:ext>
              </a:extLst>
            </p:cNvPr>
            <p:cNvSpPr txBox="1"/>
            <p:nvPr/>
          </p:nvSpPr>
          <p:spPr>
            <a:xfrm>
              <a:off x="8784367" y="1717102"/>
              <a:ext cx="2499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1809C7E6-3BD5-C84E-9F85-886F52B81974}"/>
                </a:ext>
              </a:extLst>
            </p:cNvPr>
            <p:cNvSpPr txBox="1"/>
            <p:nvPr/>
          </p:nvSpPr>
          <p:spPr>
            <a:xfrm>
              <a:off x="8599052" y="1915602"/>
              <a:ext cx="23149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8FBD681E-0026-ACA6-D22A-402F6D1A2EDC}"/>
                </a:ext>
              </a:extLst>
            </p:cNvPr>
            <p:cNvSpPr txBox="1"/>
            <p:nvPr/>
          </p:nvSpPr>
          <p:spPr>
            <a:xfrm>
              <a:off x="8778359" y="1917786"/>
              <a:ext cx="3624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</p:grpSp>
      <p:sp>
        <p:nvSpPr>
          <p:cNvPr id="148" name="Flowchart: Alternate Process 147">
            <a:extLst>
              <a:ext uri="{FF2B5EF4-FFF2-40B4-BE49-F238E27FC236}">
                <a16:creationId xmlns:a16="http://schemas.microsoft.com/office/drawing/2014/main" id="{63D205A4-3247-B7EB-61EF-C9E41E147AAA}"/>
              </a:ext>
            </a:extLst>
          </p:cNvPr>
          <p:cNvSpPr/>
          <p:nvPr/>
        </p:nvSpPr>
        <p:spPr>
          <a:xfrm>
            <a:off x="3663536" y="3305441"/>
            <a:ext cx="45719" cy="550853"/>
          </a:xfrm>
          <a:prstGeom prst="flowChartAlternateProcess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697E79C-CDE8-3F6B-0645-C0AD6158A5C6}"/>
              </a:ext>
            </a:extLst>
          </p:cNvPr>
          <p:cNvSpPr/>
          <p:nvPr/>
        </p:nvSpPr>
        <p:spPr>
          <a:xfrm>
            <a:off x="2647283" y="3533642"/>
            <a:ext cx="1028241" cy="78186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959524C5-D838-FBE7-3BA7-E5806E53674C}"/>
              </a:ext>
            </a:extLst>
          </p:cNvPr>
          <p:cNvGrpSpPr/>
          <p:nvPr/>
        </p:nvGrpSpPr>
        <p:grpSpPr>
          <a:xfrm>
            <a:off x="2204466" y="3294183"/>
            <a:ext cx="498877" cy="541761"/>
            <a:chOff x="9060453" y="2087139"/>
            <a:chExt cx="498877" cy="541761"/>
          </a:xfrm>
        </p:grpSpPr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C2CA88F9-84EB-51DB-FE63-9BE63B65F18D}"/>
                </a:ext>
              </a:extLst>
            </p:cNvPr>
            <p:cNvSpPr/>
            <p:nvPr/>
          </p:nvSpPr>
          <p:spPr>
            <a:xfrm rot="10800000">
              <a:off x="9060453" y="2087139"/>
              <a:ext cx="498877" cy="536427"/>
            </a:xfrm>
            <a:prstGeom prst="rect">
              <a:avLst/>
            </a:prstGeom>
            <a:gradFill>
              <a:gsLst>
                <a:gs pos="37000">
                  <a:srgbClr val="00B0F0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F1F43F87-A302-D477-56C8-13D8499322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60453" y="2087139"/>
              <a:ext cx="498877" cy="541761"/>
            </a:xfrm>
            <a:prstGeom prst="line">
              <a:avLst/>
            </a:prstGeom>
            <a:ln w="2222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53" name="TextBox 152">
            <a:extLst>
              <a:ext uri="{FF2B5EF4-FFF2-40B4-BE49-F238E27FC236}">
                <a16:creationId xmlns:a16="http://schemas.microsoft.com/office/drawing/2014/main" id="{822CF5C9-E407-1743-FD1E-656E41F06E78}"/>
              </a:ext>
            </a:extLst>
          </p:cNvPr>
          <p:cNvSpPr txBox="1"/>
          <p:nvPr/>
        </p:nvSpPr>
        <p:spPr>
          <a:xfrm>
            <a:off x="2089225" y="3790703"/>
            <a:ext cx="867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PBS 2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12692FE6-FF4E-B266-42FF-9853AC46175E}"/>
              </a:ext>
            </a:extLst>
          </p:cNvPr>
          <p:cNvSpPr txBox="1"/>
          <p:nvPr/>
        </p:nvSpPr>
        <p:spPr>
          <a:xfrm>
            <a:off x="3932040" y="3856942"/>
            <a:ext cx="643478" cy="3808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QPD</a:t>
            </a:r>
          </a:p>
        </p:txBody>
      </p:sp>
    </p:spTree>
    <p:extLst>
      <p:ext uri="{BB962C8B-B14F-4D97-AF65-F5344CB8AC3E}">
        <p14:creationId xmlns:p14="http://schemas.microsoft.com/office/powerpoint/2010/main" val="17829840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693" y="4957652"/>
            <a:ext cx="2121592" cy="1225402"/>
          </a:xfrm>
          <a:prstGeom prst="rect">
            <a:avLst/>
          </a:prstGeom>
        </p:spPr>
      </p:pic>
      <p:sp>
        <p:nvSpPr>
          <p:cNvPr id="106" name="Rectangle 105">
            <a:extLst>
              <a:ext uri="{FF2B5EF4-FFF2-40B4-BE49-F238E27FC236}">
                <a16:creationId xmlns:a16="http://schemas.microsoft.com/office/drawing/2014/main" id="{551FC6B3-1B8B-B3CE-9867-1668127D72DD}"/>
              </a:ext>
            </a:extLst>
          </p:cNvPr>
          <p:cNvSpPr/>
          <p:nvPr/>
        </p:nvSpPr>
        <p:spPr>
          <a:xfrm>
            <a:off x="6086901" y="5682017"/>
            <a:ext cx="113732" cy="33209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51FC6B3-1B8B-B3CE-9867-1668127D72DD}"/>
              </a:ext>
            </a:extLst>
          </p:cNvPr>
          <p:cNvSpPr/>
          <p:nvPr/>
        </p:nvSpPr>
        <p:spPr>
          <a:xfrm>
            <a:off x="4933042" y="4215129"/>
            <a:ext cx="162000" cy="1296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7F4AA7-A56D-B756-61A2-17EC898A6A40}"/>
              </a:ext>
            </a:extLst>
          </p:cNvPr>
          <p:cNvSpPr/>
          <p:nvPr/>
        </p:nvSpPr>
        <p:spPr>
          <a:xfrm>
            <a:off x="6050090" y="1055078"/>
            <a:ext cx="197783" cy="280584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551FC6B3-1B8B-B3CE-9867-1668127D72DD}"/>
              </a:ext>
            </a:extLst>
          </p:cNvPr>
          <p:cNvSpPr/>
          <p:nvPr/>
        </p:nvSpPr>
        <p:spPr>
          <a:xfrm rot="16200000">
            <a:off x="4812843" y="4475525"/>
            <a:ext cx="162000" cy="2160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/>
          <p:cNvSpPr/>
          <p:nvPr/>
        </p:nvSpPr>
        <p:spPr>
          <a:xfrm rot="5902382">
            <a:off x="9305917" y="4603004"/>
            <a:ext cx="578026" cy="513141"/>
          </a:xfrm>
          <a:custGeom>
            <a:avLst/>
            <a:gdLst>
              <a:gd name="connsiteX0" fmla="*/ 0 w 761273"/>
              <a:gd name="connsiteY0" fmla="*/ 0 h 783772"/>
              <a:gd name="connsiteX1" fmla="*/ 200967 w 761273"/>
              <a:gd name="connsiteY1" fmla="*/ 180871 h 783772"/>
              <a:gd name="connsiteX2" fmla="*/ 643094 w 761273"/>
              <a:gd name="connsiteY2" fmla="*/ 211016 h 783772"/>
              <a:gd name="connsiteX3" fmla="*/ 753626 w 761273"/>
              <a:gd name="connsiteY3" fmla="*/ 472273 h 783772"/>
              <a:gd name="connsiteX4" fmla="*/ 482321 w 761273"/>
              <a:gd name="connsiteY4" fmla="*/ 783772 h 783772"/>
              <a:gd name="connsiteX5" fmla="*/ 482321 w 761273"/>
              <a:gd name="connsiteY5" fmla="*/ 783772 h 783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1273" h="783772">
                <a:moveTo>
                  <a:pt x="0" y="0"/>
                </a:moveTo>
                <a:cubicBezTo>
                  <a:pt x="46892" y="72851"/>
                  <a:pt x="93785" y="145702"/>
                  <a:pt x="200967" y="180871"/>
                </a:cubicBezTo>
                <a:cubicBezTo>
                  <a:pt x="308149" y="216040"/>
                  <a:pt x="550984" y="162449"/>
                  <a:pt x="643094" y="211016"/>
                </a:cubicBezTo>
                <a:cubicBezTo>
                  <a:pt x="735204" y="259583"/>
                  <a:pt x="780421" y="376814"/>
                  <a:pt x="753626" y="472273"/>
                </a:cubicBezTo>
                <a:cubicBezTo>
                  <a:pt x="726831" y="567732"/>
                  <a:pt x="482321" y="783772"/>
                  <a:pt x="482321" y="783772"/>
                </a:cubicBezTo>
                <a:lnTo>
                  <a:pt x="482321" y="783772"/>
                </a:lnTo>
              </a:path>
            </a:pathLst>
          </a:cu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67" name="Group 66"/>
          <p:cNvGrpSpPr/>
          <p:nvPr/>
        </p:nvGrpSpPr>
        <p:grpSpPr>
          <a:xfrm rot="10800000">
            <a:off x="7464689" y="5806866"/>
            <a:ext cx="411480" cy="707272"/>
            <a:chOff x="5054366" y="6231879"/>
            <a:chExt cx="411480" cy="707272"/>
          </a:xfrm>
        </p:grpSpPr>
        <p:sp>
          <p:nvSpPr>
            <p:cNvPr id="8" name="Cylinder 7">
              <a:extLst>
                <a:ext uri="{FF2B5EF4-FFF2-40B4-BE49-F238E27FC236}">
                  <a16:creationId xmlns:a16="http://schemas.microsoft.com/office/drawing/2014/main" id="{A728E802-DB44-B94E-AF27-F00A242A2AA7}"/>
                </a:ext>
              </a:extLst>
            </p:cNvPr>
            <p:cNvSpPr/>
            <p:nvPr/>
          </p:nvSpPr>
          <p:spPr>
            <a:xfrm rot="10800000">
              <a:off x="5054366" y="6232186"/>
              <a:ext cx="411480" cy="649224"/>
            </a:xfrm>
            <a:prstGeom prst="can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0466FCD-E399-4182-99DB-B32569F72CB8}"/>
                </a:ext>
              </a:extLst>
            </p:cNvPr>
            <p:cNvSpPr/>
            <p:nvPr/>
          </p:nvSpPr>
          <p:spPr>
            <a:xfrm rot="16200000">
              <a:off x="4981706" y="6424480"/>
              <a:ext cx="548640" cy="163437"/>
            </a:xfrm>
            <a:prstGeom prst="rect">
              <a:avLst/>
            </a:prstGeom>
            <a:gradFill>
              <a:gsLst>
                <a:gs pos="53000">
                  <a:srgbClr val="FF0000"/>
                </a:gs>
                <a:gs pos="89000">
                  <a:schemeClr val="accent1">
                    <a:lumMod val="45000"/>
                    <a:lumOff val="55000"/>
                  </a:schemeClr>
                </a:gs>
                <a:gs pos="9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E08198C-A32F-1C54-60FC-1990EF0BBB6C}"/>
                </a:ext>
              </a:extLst>
            </p:cNvPr>
            <p:cNvSpPr/>
            <p:nvPr/>
          </p:nvSpPr>
          <p:spPr>
            <a:xfrm rot="16200000">
              <a:off x="5172649" y="6757194"/>
              <a:ext cx="166347" cy="197567"/>
            </a:xfrm>
            <a:prstGeom prst="roundRect">
              <a:avLst/>
            </a:prstGeom>
            <a:solidFill>
              <a:schemeClr val="accent1"/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Freeform 6"/>
          <p:cNvSpPr/>
          <p:nvPr/>
        </p:nvSpPr>
        <p:spPr>
          <a:xfrm rot="5400000">
            <a:off x="9324265" y="4541481"/>
            <a:ext cx="394118" cy="464549"/>
          </a:xfrm>
          <a:custGeom>
            <a:avLst/>
            <a:gdLst>
              <a:gd name="connsiteX0" fmla="*/ 16408 w 699578"/>
              <a:gd name="connsiteY0" fmla="*/ 0 h 905486"/>
              <a:gd name="connsiteX1" fmla="*/ 76698 w 699578"/>
              <a:gd name="connsiteY1" fmla="*/ 311499 h 905486"/>
              <a:gd name="connsiteX2" fmla="*/ 619309 w 699578"/>
              <a:gd name="connsiteY2" fmla="*/ 592853 h 905486"/>
              <a:gd name="connsiteX3" fmla="*/ 659502 w 699578"/>
              <a:gd name="connsiteY3" fmla="*/ 864159 h 905486"/>
              <a:gd name="connsiteX4" fmla="*/ 257568 w 699578"/>
              <a:gd name="connsiteY4" fmla="*/ 904352 h 905486"/>
              <a:gd name="connsiteX5" fmla="*/ 257568 w 699578"/>
              <a:gd name="connsiteY5" fmla="*/ 904352 h 905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9578" h="905486">
                <a:moveTo>
                  <a:pt x="16408" y="0"/>
                </a:moveTo>
                <a:cubicBezTo>
                  <a:pt x="-3689" y="106345"/>
                  <a:pt x="-23785" y="212690"/>
                  <a:pt x="76698" y="311499"/>
                </a:cubicBezTo>
                <a:cubicBezTo>
                  <a:pt x="177181" y="410308"/>
                  <a:pt x="522175" y="500743"/>
                  <a:pt x="619309" y="592853"/>
                </a:cubicBezTo>
                <a:cubicBezTo>
                  <a:pt x="716443" y="684963"/>
                  <a:pt x="719792" y="812243"/>
                  <a:pt x="659502" y="864159"/>
                </a:cubicBezTo>
                <a:cubicBezTo>
                  <a:pt x="599212" y="916075"/>
                  <a:pt x="257568" y="904352"/>
                  <a:pt x="257568" y="904352"/>
                </a:cubicBezTo>
                <a:lnTo>
                  <a:pt x="257568" y="904352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D67FBB1-94B0-B530-E10E-B31F48D2B026}"/>
              </a:ext>
            </a:extLst>
          </p:cNvPr>
          <p:cNvSpPr txBox="1"/>
          <p:nvPr/>
        </p:nvSpPr>
        <p:spPr>
          <a:xfrm>
            <a:off x="5885153" y="503644"/>
            <a:ext cx="7109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1FC6B3-1B8B-B3CE-9867-1668127D72DD}"/>
              </a:ext>
            </a:extLst>
          </p:cNvPr>
          <p:cNvSpPr/>
          <p:nvPr/>
        </p:nvSpPr>
        <p:spPr>
          <a:xfrm>
            <a:off x="6049059" y="3828393"/>
            <a:ext cx="198000" cy="149878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9" name="Group 48"/>
          <p:cNvGrpSpPr/>
          <p:nvPr/>
        </p:nvGrpSpPr>
        <p:grpSpPr>
          <a:xfrm>
            <a:off x="5692582" y="843947"/>
            <a:ext cx="941832" cy="204947"/>
            <a:chOff x="5662928" y="112249"/>
            <a:chExt cx="941832" cy="20494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892BE65-342D-D247-B1D4-1FDED00B63FB}"/>
                </a:ext>
              </a:extLst>
            </p:cNvPr>
            <p:cNvSpPr/>
            <p:nvPr/>
          </p:nvSpPr>
          <p:spPr>
            <a:xfrm>
              <a:off x="5817587" y="271477"/>
              <a:ext cx="594360" cy="45719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lowchart: Terminator 13">
              <a:extLst>
                <a:ext uri="{FF2B5EF4-FFF2-40B4-BE49-F238E27FC236}">
                  <a16:creationId xmlns:a16="http://schemas.microsoft.com/office/drawing/2014/main" id="{FBA97B87-1DB8-6A0C-6C8A-7BD8CDC48AD8}"/>
                </a:ext>
              </a:extLst>
            </p:cNvPr>
            <p:cNvSpPr/>
            <p:nvPr/>
          </p:nvSpPr>
          <p:spPr>
            <a:xfrm>
              <a:off x="5662928" y="112249"/>
              <a:ext cx="941832" cy="137938"/>
            </a:xfrm>
            <a:prstGeom prst="flowChartTerminator">
              <a:avLst/>
            </a:prstGeom>
            <a:gradFill>
              <a:gsLst>
                <a:gs pos="23000">
                  <a:schemeClr val="accent6">
                    <a:lumMod val="60000"/>
                    <a:lumOff val="40000"/>
                  </a:schemeClr>
                </a:gs>
                <a:gs pos="0">
                  <a:schemeClr val="accent2">
                    <a:lumMod val="75000"/>
                  </a:schemeClr>
                </a:gs>
                <a:gs pos="11000">
                  <a:schemeClr val="accent5">
                    <a:lumMod val="75000"/>
                  </a:schemeClr>
                </a:gs>
                <a:gs pos="9000">
                  <a:schemeClr val="accent2">
                    <a:lumMod val="75000"/>
                  </a:schemeClr>
                </a:gs>
                <a:gs pos="45000">
                  <a:schemeClr val="accent2">
                    <a:lumMod val="20000"/>
                    <a:lumOff val="80000"/>
                  </a:schemeClr>
                </a:gs>
              </a:gsLst>
              <a:lin ang="6600000" scaled="0"/>
            </a:gradFill>
            <a:effectLst>
              <a:glow>
                <a:schemeClr val="accent1"/>
              </a:glow>
              <a:softEdge rad="0"/>
            </a:effectLst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C100469-4557-27C6-F166-FF80FA8AAC40}"/>
              </a:ext>
            </a:extLst>
          </p:cNvPr>
          <p:cNvCxnSpPr/>
          <p:nvPr/>
        </p:nvCxnSpPr>
        <p:spPr>
          <a:xfrm>
            <a:off x="5479699" y="2795754"/>
            <a:ext cx="1404004" cy="9807"/>
          </a:xfrm>
          <a:prstGeom prst="line">
            <a:avLst/>
          </a:prstGeom>
          <a:ln w="635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26000">
                  <a:srgbClr val="7030A0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scene3d>
            <a:camera prst="orthographicFront"/>
            <a:lightRig rig="harsh" dir="t"/>
          </a:scene3d>
          <a:sp3d prstMaterial="powder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Cylinder 14">
            <a:extLst>
              <a:ext uri="{FF2B5EF4-FFF2-40B4-BE49-F238E27FC236}">
                <a16:creationId xmlns:a16="http://schemas.microsoft.com/office/drawing/2014/main" id="{ED7DD9EE-001C-040B-FF7E-ED62568A9342}"/>
              </a:ext>
            </a:extLst>
          </p:cNvPr>
          <p:cNvSpPr/>
          <p:nvPr/>
        </p:nvSpPr>
        <p:spPr>
          <a:xfrm rot="16200000">
            <a:off x="8865170" y="4552673"/>
            <a:ext cx="411480" cy="649224"/>
          </a:xfrm>
          <a:prstGeom prst="can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D1DFDEA-B46A-62DC-DAA3-826696DD817D}"/>
              </a:ext>
            </a:extLst>
          </p:cNvPr>
          <p:cNvSpPr/>
          <p:nvPr/>
        </p:nvSpPr>
        <p:spPr>
          <a:xfrm>
            <a:off x="8854904" y="4796581"/>
            <a:ext cx="548640" cy="163437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18C0119-6AAE-CB6C-EF9A-0FAEFE930AFA}"/>
              </a:ext>
            </a:extLst>
          </p:cNvPr>
          <p:cNvSpPr/>
          <p:nvPr/>
        </p:nvSpPr>
        <p:spPr>
          <a:xfrm>
            <a:off x="8688559" y="4783456"/>
            <a:ext cx="166347" cy="1975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4109CF9-060C-C47F-EC2B-C975FA8AA455}"/>
              </a:ext>
            </a:extLst>
          </p:cNvPr>
          <p:cNvSpPr/>
          <p:nvPr/>
        </p:nvSpPr>
        <p:spPr>
          <a:xfrm rot="16200000">
            <a:off x="5534036" y="4247726"/>
            <a:ext cx="1236749" cy="79250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C9D3B27-C009-5381-DDCA-61E59212A18E}"/>
              </a:ext>
            </a:extLst>
          </p:cNvPr>
          <p:cNvGrpSpPr/>
          <p:nvPr/>
        </p:nvGrpSpPr>
        <p:grpSpPr>
          <a:xfrm>
            <a:off x="5901664" y="2868413"/>
            <a:ext cx="498877" cy="990445"/>
            <a:chOff x="5169282" y="2604805"/>
            <a:chExt cx="498877" cy="990445"/>
          </a:xfrm>
        </p:grpSpPr>
        <p:sp>
          <p:nvSpPr>
            <p:cNvPr id="40" name="Flowchart: Alternate Process 39">
              <a:extLst>
                <a:ext uri="{FF2B5EF4-FFF2-40B4-BE49-F238E27FC236}">
                  <a16:creationId xmlns:a16="http://schemas.microsoft.com/office/drawing/2014/main" id="{5D987AC9-B0EC-CDC9-9B15-DDA23116AB77}"/>
                </a:ext>
              </a:extLst>
            </p:cNvPr>
            <p:cNvSpPr/>
            <p:nvPr/>
          </p:nvSpPr>
          <p:spPr>
            <a:xfrm>
              <a:off x="5169282" y="2948311"/>
              <a:ext cx="498877" cy="646939"/>
            </a:xfrm>
            <a:prstGeom prst="flowChartAlternateProcess">
              <a:avLst/>
            </a:prstGeom>
            <a:gradFill>
              <a:gsLst>
                <a:gs pos="50000">
                  <a:schemeClr val="accent6">
                    <a:lumMod val="60000"/>
                    <a:lumOff val="40000"/>
                  </a:schemeClr>
                </a:gs>
                <a:gs pos="100000">
                  <a:schemeClr val="tx1"/>
                </a:gs>
                <a:gs pos="0">
                  <a:schemeClr val="tx1"/>
                </a:gs>
                <a:gs pos="100000">
                  <a:schemeClr val="tx1"/>
                </a:gs>
              </a:gsLst>
              <a:lin ang="0" scaled="1"/>
            </a:gra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Isosceles Triangle 41">
              <a:extLst>
                <a:ext uri="{FF2B5EF4-FFF2-40B4-BE49-F238E27FC236}">
                  <a16:creationId xmlns:a16="http://schemas.microsoft.com/office/drawing/2014/main" id="{523C3B16-A42F-909E-DDAA-205336531436}"/>
                </a:ext>
              </a:extLst>
            </p:cNvPr>
            <p:cNvSpPr/>
            <p:nvPr/>
          </p:nvSpPr>
          <p:spPr>
            <a:xfrm>
              <a:off x="5336398" y="2604805"/>
              <a:ext cx="152911" cy="228472"/>
            </a:xfrm>
            <a:prstGeom prst="triangle">
              <a:avLst/>
            </a:prstGeom>
            <a:gradFill>
              <a:gsLst>
                <a:gs pos="53000">
                  <a:srgbClr val="FF0000"/>
                </a:gs>
                <a:gs pos="89000">
                  <a:schemeClr val="accent1">
                    <a:lumMod val="45000"/>
                    <a:lumOff val="55000"/>
                  </a:schemeClr>
                </a:gs>
                <a:gs pos="9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lowchart: Alternate Process 40">
              <a:extLst>
                <a:ext uri="{FF2B5EF4-FFF2-40B4-BE49-F238E27FC236}">
                  <a16:creationId xmlns:a16="http://schemas.microsoft.com/office/drawing/2014/main" id="{D04B4C1B-0607-9C16-D68C-C07C77F6172D}"/>
                </a:ext>
              </a:extLst>
            </p:cNvPr>
            <p:cNvSpPr/>
            <p:nvPr/>
          </p:nvSpPr>
          <p:spPr>
            <a:xfrm>
              <a:off x="5237472" y="2785147"/>
              <a:ext cx="362495" cy="185964"/>
            </a:xfrm>
            <a:prstGeom prst="flowChartAlternateProcess">
              <a:avLst/>
            </a:prstGeom>
            <a:gradFill>
              <a:gsLst>
                <a:gs pos="50000">
                  <a:schemeClr val="accent6">
                    <a:lumMod val="60000"/>
                    <a:lumOff val="40000"/>
                  </a:schemeClr>
                </a:gs>
                <a:gs pos="100000">
                  <a:schemeClr val="tx1"/>
                </a:gs>
                <a:gs pos="0">
                  <a:schemeClr val="tx1"/>
                </a:gs>
                <a:gs pos="100000">
                  <a:schemeClr val="tx1"/>
                </a:gs>
              </a:gsLst>
              <a:lin ang="0" scaled="1"/>
            </a:gra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E2FFBA9-ED02-8344-4F04-9370964FCF71}"/>
              </a:ext>
            </a:extLst>
          </p:cNvPr>
          <p:cNvGrpSpPr/>
          <p:nvPr/>
        </p:nvGrpSpPr>
        <p:grpSpPr>
          <a:xfrm rot="10800000">
            <a:off x="5893966" y="1782101"/>
            <a:ext cx="498877" cy="990445"/>
            <a:chOff x="5164295" y="2637630"/>
            <a:chExt cx="498877" cy="990445"/>
          </a:xfrm>
        </p:grpSpPr>
        <p:sp>
          <p:nvSpPr>
            <p:cNvPr id="45" name="Flowchart: Alternate Process 44">
              <a:extLst>
                <a:ext uri="{FF2B5EF4-FFF2-40B4-BE49-F238E27FC236}">
                  <a16:creationId xmlns:a16="http://schemas.microsoft.com/office/drawing/2014/main" id="{A86B3D0C-D7AA-F58F-5735-84FE6867AAF1}"/>
                </a:ext>
              </a:extLst>
            </p:cNvPr>
            <p:cNvSpPr/>
            <p:nvPr/>
          </p:nvSpPr>
          <p:spPr>
            <a:xfrm>
              <a:off x="5164295" y="2981136"/>
              <a:ext cx="498877" cy="646939"/>
            </a:xfrm>
            <a:prstGeom prst="flowChartAlternateProcess">
              <a:avLst/>
            </a:prstGeom>
            <a:gradFill>
              <a:gsLst>
                <a:gs pos="50000">
                  <a:schemeClr val="accent6">
                    <a:lumMod val="60000"/>
                    <a:lumOff val="40000"/>
                  </a:schemeClr>
                </a:gs>
                <a:gs pos="100000">
                  <a:schemeClr val="tx1"/>
                </a:gs>
                <a:gs pos="0">
                  <a:schemeClr val="tx1"/>
                </a:gs>
                <a:gs pos="100000">
                  <a:schemeClr val="tx1"/>
                </a:gs>
              </a:gsLst>
              <a:lin ang="0" scaled="1"/>
            </a:gra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3ACFBA19-4723-12D1-B2B3-FFA8DDA77743}"/>
                </a:ext>
              </a:extLst>
            </p:cNvPr>
            <p:cNvSpPr/>
            <p:nvPr/>
          </p:nvSpPr>
          <p:spPr>
            <a:xfrm>
              <a:off x="5331411" y="2637630"/>
              <a:ext cx="152911" cy="228472"/>
            </a:xfrm>
            <a:prstGeom prst="triangle">
              <a:avLst/>
            </a:prstGeom>
            <a:gradFill>
              <a:gsLst>
                <a:gs pos="53000">
                  <a:srgbClr val="FF0000"/>
                </a:gs>
                <a:gs pos="89000">
                  <a:schemeClr val="accent1">
                    <a:lumMod val="45000"/>
                    <a:lumOff val="55000"/>
                  </a:schemeClr>
                </a:gs>
                <a:gs pos="9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lowchart: Alternate Process 46">
              <a:extLst>
                <a:ext uri="{FF2B5EF4-FFF2-40B4-BE49-F238E27FC236}">
                  <a16:creationId xmlns:a16="http://schemas.microsoft.com/office/drawing/2014/main" id="{B4F4F318-5252-6235-7420-B8CB1A68D089}"/>
                </a:ext>
              </a:extLst>
            </p:cNvPr>
            <p:cNvSpPr/>
            <p:nvPr/>
          </p:nvSpPr>
          <p:spPr>
            <a:xfrm>
              <a:off x="5232485" y="2817972"/>
              <a:ext cx="362495" cy="185964"/>
            </a:xfrm>
            <a:prstGeom prst="flowChartAlternateProcess">
              <a:avLst/>
            </a:prstGeom>
            <a:gradFill>
              <a:gsLst>
                <a:gs pos="50000">
                  <a:schemeClr val="accent6">
                    <a:lumMod val="60000"/>
                    <a:lumOff val="40000"/>
                  </a:schemeClr>
                </a:gs>
                <a:gs pos="100000">
                  <a:schemeClr val="tx1"/>
                </a:gs>
                <a:gs pos="0">
                  <a:schemeClr val="tx1"/>
                </a:gs>
                <a:gs pos="100000">
                  <a:schemeClr val="tx1"/>
                </a:gs>
              </a:gsLst>
              <a:lin ang="0" scaled="1"/>
            </a:gra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9DF5ECC0-1497-DDF9-BBF9-35DA6071AD4A}"/>
              </a:ext>
            </a:extLst>
          </p:cNvPr>
          <p:cNvSpPr/>
          <p:nvPr/>
        </p:nvSpPr>
        <p:spPr>
          <a:xfrm rot="10800000">
            <a:off x="6138970" y="4844485"/>
            <a:ext cx="2664000" cy="79250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C0683C-3A2B-3237-AD8D-6BFD1CB8D6F9}"/>
              </a:ext>
            </a:extLst>
          </p:cNvPr>
          <p:cNvSpPr/>
          <p:nvPr/>
        </p:nvSpPr>
        <p:spPr>
          <a:xfrm rot="18746997">
            <a:off x="6053437" y="4512387"/>
            <a:ext cx="144000" cy="756000"/>
          </a:xfrm>
          <a:prstGeom prst="rect">
            <a:avLst/>
          </a:prstGeom>
          <a:solidFill>
            <a:schemeClr val="bg1">
              <a:lumMod val="65000"/>
            </a:schemeClr>
          </a:solidFill>
          <a:scene3d>
            <a:camera prst="orthographicFront"/>
            <a:lightRig rig="threePt" dir="t"/>
          </a:scene3d>
          <a:sp3d>
            <a:bevelT prst="angle"/>
            <a:bevelB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41BBA5A-FE01-90AA-692A-A69A6527CE33}"/>
              </a:ext>
            </a:extLst>
          </p:cNvPr>
          <p:cNvSpPr txBox="1"/>
          <p:nvPr/>
        </p:nvSpPr>
        <p:spPr>
          <a:xfrm>
            <a:off x="6341982" y="1552678"/>
            <a:ext cx="17070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Condenser</a:t>
            </a: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(10X, 0.25NA)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875F6A0-2E1C-26EA-4D3C-737F3B4D4D1F}"/>
              </a:ext>
            </a:extLst>
          </p:cNvPr>
          <p:cNvSpPr txBox="1"/>
          <p:nvPr/>
        </p:nvSpPr>
        <p:spPr>
          <a:xfrm>
            <a:off x="6350516" y="3413581"/>
            <a:ext cx="1584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(100X, 1.3NA)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3181888-A1C8-0611-A2B7-3ACD423B2EEE}"/>
              </a:ext>
            </a:extLst>
          </p:cNvPr>
          <p:cNvSpPr txBox="1"/>
          <p:nvPr/>
        </p:nvSpPr>
        <p:spPr>
          <a:xfrm>
            <a:off x="6188455" y="4485277"/>
            <a:ext cx="679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DM1 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48B0CBC-D8E9-2156-AFF5-B14A735427E5}"/>
              </a:ext>
            </a:extLst>
          </p:cNvPr>
          <p:cNvSpPr txBox="1"/>
          <p:nvPr/>
        </p:nvSpPr>
        <p:spPr>
          <a:xfrm>
            <a:off x="5685331" y="6386981"/>
            <a:ext cx="1092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Camera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0E2F301-84CD-72CE-A4DD-F8BD2D56E74D}"/>
              </a:ext>
            </a:extLst>
          </p:cNvPr>
          <p:cNvSpPr txBox="1"/>
          <p:nvPr/>
        </p:nvSpPr>
        <p:spPr>
          <a:xfrm>
            <a:off x="2956394" y="2552614"/>
            <a:ext cx="1473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Sample Stage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B57C009-F9C2-32ED-9407-725EB29110F7}"/>
              </a:ext>
            </a:extLst>
          </p:cNvPr>
          <p:cNvSpPr txBox="1"/>
          <p:nvPr/>
        </p:nvSpPr>
        <p:spPr>
          <a:xfrm>
            <a:off x="8548853" y="5036291"/>
            <a:ext cx="11607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Laser 1</a:t>
            </a: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(1064 nm)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037BD43-BA60-7BAE-E5B8-344AF5DD745B}"/>
              </a:ext>
            </a:extLst>
          </p:cNvPr>
          <p:cNvSpPr txBox="1"/>
          <p:nvPr/>
        </p:nvSpPr>
        <p:spPr>
          <a:xfrm>
            <a:off x="7407700" y="4221344"/>
            <a:ext cx="831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PBS </a:t>
            </a:r>
          </a:p>
        </p:txBody>
      </p:sp>
      <p:sp>
        <p:nvSpPr>
          <p:cNvPr id="4" name="Oval 3"/>
          <p:cNvSpPr/>
          <p:nvPr/>
        </p:nvSpPr>
        <p:spPr>
          <a:xfrm>
            <a:off x="8172827" y="4662022"/>
            <a:ext cx="212118" cy="443619"/>
          </a:xfrm>
          <a:prstGeom prst="ellipse">
            <a:avLst/>
          </a:prstGeom>
          <a:solidFill>
            <a:schemeClr val="accent5">
              <a:lumMod val="20000"/>
              <a:lumOff val="80000"/>
              <a:alpha val="95000"/>
            </a:schemeClr>
          </a:solidFill>
          <a:ln>
            <a:solidFill>
              <a:schemeClr val="accent1">
                <a:shade val="50000"/>
                <a:alpha val="82000"/>
              </a:schemeClr>
            </a:solidFill>
          </a:ln>
          <a:scene3d>
            <a:camera prst="orthographicFront">
              <a:rot lat="0" lon="2700000" rev="0"/>
            </a:camera>
            <a:lightRig rig="threePt" dir="t"/>
          </a:scene3d>
          <a:sp3d>
            <a:bevelT prst="angle"/>
            <a:bevelB prst="convex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46BBCDC-0662-8848-38BF-AA907006025B}"/>
              </a:ext>
            </a:extLst>
          </p:cNvPr>
          <p:cNvSpPr/>
          <p:nvPr/>
        </p:nvSpPr>
        <p:spPr>
          <a:xfrm rot="5400000">
            <a:off x="7168438" y="5355710"/>
            <a:ext cx="1015762" cy="72000"/>
          </a:xfrm>
          <a:prstGeom prst="rect">
            <a:avLst/>
          </a:prstGeom>
          <a:gradFill>
            <a:gsLst>
              <a:gs pos="3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C0AEB34-B8D9-F3EA-C9D7-293064C3137F}"/>
              </a:ext>
            </a:extLst>
          </p:cNvPr>
          <p:cNvSpPr txBox="1"/>
          <p:nvPr/>
        </p:nvSpPr>
        <p:spPr>
          <a:xfrm>
            <a:off x="7808337" y="5815877"/>
            <a:ext cx="12045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Laser 2</a:t>
            </a: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(975 nm)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037BD43-BA60-7BAE-E5B8-344AF5DD745B}"/>
              </a:ext>
            </a:extLst>
          </p:cNvPr>
          <p:cNvSpPr txBox="1"/>
          <p:nvPr/>
        </p:nvSpPr>
        <p:spPr>
          <a:xfrm>
            <a:off x="7951599" y="4340584"/>
            <a:ext cx="882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HWP 1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37BD43-BA60-7BAE-E5B8-344AF5DD745B}"/>
              </a:ext>
            </a:extLst>
          </p:cNvPr>
          <p:cNvSpPr txBox="1"/>
          <p:nvPr/>
        </p:nvSpPr>
        <p:spPr>
          <a:xfrm>
            <a:off x="7839604" y="5232627"/>
            <a:ext cx="909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HWP 2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6D4E28C-F24E-EB6A-B8CC-8428E74DB16D}"/>
              </a:ext>
            </a:extLst>
          </p:cNvPr>
          <p:cNvGrpSpPr/>
          <p:nvPr/>
        </p:nvGrpSpPr>
        <p:grpSpPr>
          <a:xfrm>
            <a:off x="7417949" y="4557538"/>
            <a:ext cx="498877" cy="541761"/>
            <a:chOff x="9060453" y="2087139"/>
            <a:chExt cx="498877" cy="541761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ED9F5FC-1B6D-C71E-62BE-7B0FFD093EB6}"/>
                </a:ext>
              </a:extLst>
            </p:cNvPr>
            <p:cNvSpPr/>
            <p:nvPr/>
          </p:nvSpPr>
          <p:spPr>
            <a:xfrm rot="10800000">
              <a:off x="9060453" y="2087139"/>
              <a:ext cx="498877" cy="536427"/>
            </a:xfrm>
            <a:prstGeom prst="rect">
              <a:avLst/>
            </a:prstGeom>
            <a:gradFill>
              <a:gsLst>
                <a:gs pos="72000">
                  <a:srgbClr val="00B0F0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effectLst>
              <a:innerShdw blurRad="63500" dist="50800" dir="2700000">
                <a:prstClr val="black">
                  <a:alpha val="50000"/>
                </a:prstClr>
              </a:inn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7F8053E-FCF7-23A2-0964-892BC29A1B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60453" y="2087139"/>
              <a:ext cx="498877" cy="541761"/>
            </a:xfrm>
            <a:prstGeom prst="line">
              <a:avLst/>
            </a:prstGeom>
            <a:ln w="22225"/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26D4E28C-F24E-EB6A-B8CC-8428E74DB16D}"/>
              </a:ext>
            </a:extLst>
          </p:cNvPr>
          <p:cNvGrpSpPr/>
          <p:nvPr/>
        </p:nvGrpSpPr>
        <p:grpSpPr>
          <a:xfrm>
            <a:off x="5943034" y="5329658"/>
            <a:ext cx="381620" cy="349344"/>
            <a:chOff x="9223953" y="2737866"/>
            <a:chExt cx="435749" cy="378495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4ED9F5FC-1B6D-C71E-62BE-7B0FFD093EB6}"/>
                </a:ext>
              </a:extLst>
            </p:cNvPr>
            <p:cNvSpPr/>
            <p:nvPr/>
          </p:nvSpPr>
          <p:spPr>
            <a:xfrm rot="10800000">
              <a:off x="9223954" y="2737866"/>
              <a:ext cx="435748" cy="378495"/>
            </a:xfrm>
            <a:prstGeom prst="rect">
              <a:avLst/>
            </a:prstGeom>
            <a:gradFill>
              <a:gsLst>
                <a:gs pos="72000">
                  <a:schemeClr val="bg2">
                    <a:lumMod val="50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effectLst>
              <a:innerShdw blurRad="63500" dist="50800" dir="2700000">
                <a:prstClr val="black">
                  <a:alpha val="50000"/>
                </a:prstClr>
              </a:inn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C7F8053E-FCF7-23A2-0964-892BC29A1B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23953" y="2748942"/>
              <a:ext cx="435749" cy="367418"/>
            </a:xfrm>
            <a:prstGeom prst="line">
              <a:avLst/>
            </a:prstGeom>
            <a:ln w="22225"/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8" name="Group 27"/>
          <p:cNvGrpSpPr/>
          <p:nvPr/>
        </p:nvGrpSpPr>
        <p:grpSpPr>
          <a:xfrm>
            <a:off x="5747147" y="5873365"/>
            <a:ext cx="812800" cy="629018"/>
            <a:chOff x="2227291" y="4347997"/>
            <a:chExt cx="812800" cy="629018"/>
          </a:xfrm>
        </p:grpSpPr>
        <p:grpSp>
          <p:nvGrpSpPr>
            <p:cNvPr id="26" name="Group 25"/>
            <p:cNvGrpSpPr/>
            <p:nvPr/>
          </p:nvGrpSpPr>
          <p:grpSpPr>
            <a:xfrm>
              <a:off x="2227291" y="4347997"/>
              <a:ext cx="812800" cy="629018"/>
              <a:chOff x="2227291" y="4347997"/>
              <a:chExt cx="812800" cy="629018"/>
            </a:xfrm>
          </p:grpSpPr>
          <p:sp>
            <p:nvSpPr>
              <p:cNvPr id="25" name="Isosceles Triangle 24"/>
              <p:cNvSpPr/>
              <p:nvPr/>
            </p:nvSpPr>
            <p:spPr>
              <a:xfrm rot="10800000">
                <a:off x="2423874" y="4347997"/>
                <a:ext cx="411982" cy="217371"/>
              </a:xfrm>
              <a:prstGeom prst="triangle">
                <a:avLst/>
              </a:prstGeom>
              <a:gradFill>
                <a:gsLst>
                  <a:gs pos="34000">
                    <a:schemeClr val="bg1">
                      <a:lumMod val="92000"/>
                    </a:schemeClr>
                  </a:gs>
                  <a:gs pos="100000">
                    <a:schemeClr val="tx1"/>
                  </a:gs>
                  <a:gs pos="9000">
                    <a:schemeClr val="tx1"/>
                  </a:gs>
                  <a:gs pos="51000">
                    <a:schemeClr val="accent1">
                      <a:lumMod val="30000"/>
                      <a:lumOff val="70000"/>
                    </a:schemeClr>
                  </a:gs>
                </a:gsLst>
                <a:lin ang="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94" name="Rectangle: Rounded Corners 36">
                <a:extLst>
                  <a:ext uri="{FF2B5EF4-FFF2-40B4-BE49-F238E27FC236}">
                    <a16:creationId xmlns:a16="http://schemas.microsoft.com/office/drawing/2014/main" id="{D7251CCE-40A9-7186-3FEA-EA2B92A557BB}"/>
                  </a:ext>
                </a:extLst>
              </p:cNvPr>
              <p:cNvSpPr/>
              <p:nvPr/>
            </p:nvSpPr>
            <p:spPr>
              <a:xfrm>
                <a:off x="2446706" y="4476612"/>
                <a:ext cx="360000" cy="144000"/>
              </a:xfrm>
              <a:prstGeom prst="roundRect">
                <a:avLst/>
              </a:prstGeom>
              <a:gradFill>
                <a:gsLst>
                  <a:gs pos="53000">
                    <a:schemeClr val="tx1">
                      <a:lumMod val="50000"/>
                      <a:lumOff val="50000"/>
                    </a:schemeClr>
                  </a:gs>
                  <a:gs pos="100000">
                    <a:schemeClr val="tx1"/>
                  </a:gs>
                  <a:gs pos="9000">
                    <a:schemeClr val="tx1"/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0" scaled="1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61A205E6-3C24-66E0-8C7C-C6CA6642BD14}"/>
                  </a:ext>
                </a:extLst>
              </p:cNvPr>
              <p:cNvGrpSpPr/>
              <p:nvPr/>
            </p:nvGrpSpPr>
            <p:grpSpPr>
              <a:xfrm>
                <a:off x="2227291" y="4557536"/>
                <a:ext cx="812800" cy="419479"/>
                <a:chOff x="9012725" y="1957961"/>
                <a:chExt cx="812800" cy="419479"/>
              </a:xfrm>
            </p:grpSpPr>
            <p:sp>
              <p:nvSpPr>
                <p:cNvPr id="36" name="Flowchart: Alternate Process 35">
                  <a:extLst>
                    <a:ext uri="{FF2B5EF4-FFF2-40B4-BE49-F238E27FC236}">
                      <a16:creationId xmlns:a16="http://schemas.microsoft.com/office/drawing/2014/main" id="{44B5977A-D154-0853-135F-8F76AF03564B}"/>
                    </a:ext>
                  </a:extLst>
                </p:cNvPr>
                <p:cNvSpPr/>
                <p:nvPr/>
              </p:nvSpPr>
              <p:spPr>
                <a:xfrm>
                  <a:off x="9112846" y="2125980"/>
                  <a:ext cx="600364" cy="173875"/>
                </a:xfrm>
                <a:prstGeom prst="flowChartAlternateProcess">
                  <a:avLst/>
                </a:prstGeom>
                <a:gradFill flip="none" rotWithShape="1">
                  <a:gsLst>
                    <a:gs pos="63000">
                      <a:schemeClr val="tx1">
                        <a:lumMod val="65000"/>
                        <a:lumOff val="35000"/>
                      </a:schemeClr>
                    </a:gs>
                    <a:gs pos="100000">
                      <a:schemeClr val="tx1"/>
                    </a:gs>
                    <a:gs pos="9000">
                      <a:schemeClr val="tx1"/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</a:gsLst>
                  <a:lin ang="0" scaled="1"/>
                  <a:tileRect/>
                </a:gra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Rectangle: Rounded Corners 36">
                  <a:extLst>
                    <a:ext uri="{FF2B5EF4-FFF2-40B4-BE49-F238E27FC236}">
                      <a16:creationId xmlns:a16="http://schemas.microsoft.com/office/drawing/2014/main" id="{D7251CCE-40A9-7186-3FEA-EA2B92A557BB}"/>
                    </a:ext>
                  </a:extLst>
                </p:cNvPr>
                <p:cNvSpPr/>
                <p:nvPr/>
              </p:nvSpPr>
              <p:spPr>
                <a:xfrm>
                  <a:off x="9168264" y="1957961"/>
                  <a:ext cx="489528" cy="168019"/>
                </a:xfrm>
                <a:prstGeom prst="roundRect">
                  <a:avLst/>
                </a:prstGeom>
                <a:gradFill>
                  <a:gsLst>
                    <a:gs pos="5300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/>
                    </a:gs>
                    <a:gs pos="9000">
                      <a:schemeClr val="tx1"/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</a:gsLst>
                  <a:lin ang="0" scaled="1"/>
                </a:gra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Minus Sign 37">
                  <a:extLst>
                    <a:ext uri="{FF2B5EF4-FFF2-40B4-BE49-F238E27FC236}">
                      <a16:creationId xmlns:a16="http://schemas.microsoft.com/office/drawing/2014/main" id="{35C69680-DA51-F8C0-725C-89A6085D314C}"/>
                    </a:ext>
                  </a:extLst>
                </p:cNvPr>
                <p:cNvSpPr/>
                <p:nvPr/>
              </p:nvSpPr>
              <p:spPr>
                <a:xfrm>
                  <a:off x="9012725" y="2254594"/>
                  <a:ext cx="812800" cy="122846"/>
                </a:xfrm>
                <a:prstGeom prst="mathMinus">
                  <a:avLst/>
                </a:prstGeom>
                <a:solidFill>
                  <a:schemeClr val="tx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5" name="Rectangle: Rounded Corners 36">
                <a:extLst>
                  <a:ext uri="{FF2B5EF4-FFF2-40B4-BE49-F238E27FC236}">
                    <a16:creationId xmlns:a16="http://schemas.microsoft.com/office/drawing/2014/main" id="{D7251CCE-40A9-7186-3FEA-EA2B92A557BB}"/>
                  </a:ext>
                </a:extLst>
              </p:cNvPr>
              <p:cNvSpPr/>
              <p:nvPr/>
            </p:nvSpPr>
            <p:spPr>
              <a:xfrm>
                <a:off x="2420899" y="4608631"/>
                <a:ext cx="432000" cy="72000"/>
              </a:xfrm>
              <a:prstGeom prst="roundRect">
                <a:avLst/>
              </a:prstGeom>
              <a:gradFill>
                <a:gsLst>
                  <a:gs pos="53000">
                    <a:schemeClr val="bg1">
                      <a:lumMod val="95000"/>
                    </a:schemeClr>
                  </a:gs>
                  <a:gs pos="100000">
                    <a:schemeClr val="tx1"/>
                  </a:gs>
                  <a:gs pos="9000">
                    <a:schemeClr val="tx1"/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0" scaled="1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TextBox 26"/>
            <p:cNvSpPr txBox="1"/>
            <p:nvPr/>
          </p:nvSpPr>
          <p:spPr>
            <a:xfrm>
              <a:off x="2361256" y="4710692"/>
              <a:ext cx="53091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cs typeface="Arial" panose="020B0604020202020204" pitchFamily="34" charset="0"/>
                </a:rPr>
                <a:t>CMOS</a:t>
              </a:r>
              <a:endParaRPr lang="en-IN" sz="9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8037BD43-BA60-7BAE-E5B8-344AF5DD745B}"/>
              </a:ext>
            </a:extLst>
          </p:cNvPr>
          <p:cNvSpPr txBox="1"/>
          <p:nvPr/>
        </p:nvSpPr>
        <p:spPr>
          <a:xfrm>
            <a:off x="6269355" y="5306882"/>
            <a:ext cx="11996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90:10 BS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B57C009-F9C2-32ED-9407-725EB29110F7}"/>
              </a:ext>
            </a:extLst>
          </p:cNvPr>
          <p:cNvSpPr txBox="1"/>
          <p:nvPr/>
        </p:nvSpPr>
        <p:spPr>
          <a:xfrm>
            <a:off x="4319485" y="3515481"/>
            <a:ext cx="1403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Spectrometer</a:t>
            </a:r>
          </a:p>
        </p:txBody>
      </p:sp>
      <p:sp>
        <p:nvSpPr>
          <p:cNvPr id="103" name="Rectangle 102"/>
          <p:cNvSpPr/>
          <p:nvPr/>
        </p:nvSpPr>
        <p:spPr>
          <a:xfrm flipV="1">
            <a:off x="5808349" y="2825899"/>
            <a:ext cx="703385" cy="45719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04" name="Picture 10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3995" y="3885788"/>
            <a:ext cx="1261981" cy="798645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4474838" y="2420789"/>
            <a:ext cx="13076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Glass Slide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4491949" y="2765278"/>
            <a:ext cx="1207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Cover Slip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7867599" y="2967507"/>
            <a:ext cx="17626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NaBiF</a:t>
            </a:r>
            <a:r>
              <a:rPr 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:Yb:Er</a:t>
            </a: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particle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4" name="Picture 1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2032" y="2310223"/>
            <a:ext cx="1908000" cy="652245"/>
          </a:xfrm>
          <a:prstGeom prst="rect">
            <a:avLst/>
          </a:prstGeom>
          <a:scene3d>
            <a:camera prst="orthographicFront">
              <a:rot lat="0" lon="0" rev="20399999"/>
            </a:camera>
            <a:lightRig rig="threePt" dir="t"/>
          </a:scene3d>
        </p:spPr>
      </p:pic>
      <p:sp>
        <p:nvSpPr>
          <p:cNvPr id="89" name="Arc 88"/>
          <p:cNvSpPr/>
          <p:nvPr/>
        </p:nvSpPr>
        <p:spPr>
          <a:xfrm rot="7140071" flipV="1">
            <a:off x="6710958" y="2026624"/>
            <a:ext cx="1539714" cy="2634138"/>
          </a:xfrm>
          <a:prstGeom prst="arc">
            <a:avLst>
              <a:gd name="adj1" fmla="val 11742381"/>
              <a:gd name="adj2" fmla="val 16398681"/>
            </a:avLst>
          </a:prstGeom>
          <a:ln w="38100">
            <a:solidFill>
              <a:schemeClr val="tx1"/>
            </a:solidFill>
            <a:prstDash val="sysDash"/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1C0683C-3A2B-3237-AD8D-6BFD1CB8D6F9}"/>
              </a:ext>
            </a:extLst>
          </p:cNvPr>
          <p:cNvSpPr/>
          <p:nvPr/>
        </p:nvSpPr>
        <p:spPr>
          <a:xfrm rot="18746997">
            <a:off x="4909088" y="5124668"/>
            <a:ext cx="180000" cy="805974"/>
          </a:xfrm>
          <a:prstGeom prst="rect">
            <a:avLst/>
          </a:prstGeom>
          <a:solidFill>
            <a:schemeClr val="accent5">
              <a:lumMod val="60000"/>
              <a:lumOff val="40000"/>
              <a:alpha val="87000"/>
            </a:schemeClr>
          </a:solidFill>
          <a:scene3d>
            <a:camera prst="orthographicFront"/>
            <a:lightRig rig="threePt" dir="t"/>
          </a:scene3d>
          <a:sp3d>
            <a:bevelT prst="angle"/>
            <a:bevelB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Curved Right Arrow 120"/>
          <p:cNvSpPr/>
          <p:nvPr/>
        </p:nvSpPr>
        <p:spPr>
          <a:xfrm rot="4068041">
            <a:off x="4816277" y="5217278"/>
            <a:ext cx="359907" cy="588107"/>
          </a:xfrm>
          <a:prstGeom prst="curvedRightArrow">
            <a:avLst>
              <a:gd name="adj1" fmla="val 14937"/>
              <a:gd name="adj2" fmla="val 36322"/>
              <a:gd name="adj3" fmla="val 25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037BD43-BA60-7BAE-E5B8-344AF5DD745B}"/>
              </a:ext>
            </a:extLst>
          </p:cNvPr>
          <p:cNvSpPr txBox="1"/>
          <p:nvPr/>
        </p:nvSpPr>
        <p:spPr>
          <a:xfrm>
            <a:off x="4803690" y="5812641"/>
            <a:ext cx="8318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Flip Mirror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6B57C009-F9C2-32ED-9407-725EB29110F7}"/>
              </a:ext>
            </a:extLst>
          </p:cNvPr>
          <p:cNvSpPr txBox="1"/>
          <p:nvPr/>
        </p:nvSpPr>
        <p:spPr>
          <a:xfrm>
            <a:off x="1500493" y="6191806"/>
            <a:ext cx="2479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Avalanche Photo Diode</a:t>
            </a:r>
          </a:p>
        </p:txBody>
      </p:sp>
      <p:sp>
        <p:nvSpPr>
          <p:cNvPr id="98" name="Oval 97"/>
          <p:cNvSpPr/>
          <p:nvPr/>
        </p:nvSpPr>
        <p:spPr>
          <a:xfrm>
            <a:off x="4130698" y="5320042"/>
            <a:ext cx="212118" cy="443619"/>
          </a:xfrm>
          <a:prstGeom prst="ellipse">
            <a:avLst/>
          </a:prstGeom>
          <a:solidFill>
            <a:schemeClr val="accent5">
              <a:lumMod val="20000"/>
              <a:lumOff val="80000"/>
              <a:alpha val="95000"/>
            </a:schemeClr>
          </a:solidFill>
          <a:ln>
            <a:solidFill>
              <a:schemeClr val="accent1">
                <a:shade val="50000"/>
                <a:alpha val="82000"/>
              </a:schemeClr>
            </a:solidFill>
          </a:ln>
          <a:scene3d>
            <a:camera prst="orthographicFront">
              <a:rot lat="0" lon="2700000" rev="0"/>
            </a:camera>
            <a:lightRig rig="threePt" dir="t"/>
          </a:scene3d>
          <a:sp3d>
            <a:bevelT prst="angle"/>
            <a:bevelB prst="convex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037BD43-BA60-7BAE-E5B8-344AF5DD745B}"/>
              </a:ext>
            </a:extLst>
          </p:cNvPr>
          <p:cNvSpPr txBox="1"/>
          <p:nvPr/>
        </p:nvSpPr>
        <p:spPr>
          <a:xfrm>
            <a:off x="3694151" y="5679775"/>
            <a:ext cx="11513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660 nm Filter 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6B57C009-F9C2-32ED-9407-725EB29110F7}"/>
              </a:ext>
            </a:extLst>
          </p:cNvPr>
          <p:cNvSpPr txBox="1"/>
          <p:nvPr/>
        </p:nvSpPr>
        <p:spPr>
          <a:xfrm>
            <a:off x="9566274" y="2946877"/>
            <a:ext cx="14033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 Generator</a:t>
            </a:r>
          </a:p>
        </p:txBody>
      </p:sp>
      <p:sp>
        <p:nvSpPr>
          <p:cNvPr id="22" name="Left Brace 21"/>
          <p:cNvSpPr/>
          <p:nvPr/>
        </p:nvSpPr>
        <p:spPr>
          <a:xfrm>
            <a:off x="4422881" y="2473399"/>
            <a:ext cx="261251" cy="618892"/>
          </a:xfrm>
          <a:prstGeom prst="leftBrace">
            <a:avLst>
              <a:gd name="adj1" fmla="val 8333"/>
              <a:gd name="adj2" fmla="val 51332"/>
            </a:avLst>
          </a:prstGeom>
          <a:noFill/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3" name="Picture 3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969" y="3565927"/>
            <a:ext cx="1469624" cy="1064699"/>
          </a:xfrm>
          <a:prstGeom prst="rect">
            <a:avLst/>
          </a:prstGeom>
        </p:spPr>
      </p:pic>
      <p:sp>
        <p:nvSpPr>
          <p:cNvPr id="79" name="Rectangle 78">
            <a:extLst>
              <a:ext uri="{FF2B5EF4-FFF2-40B4-BE49-F238E27FC236}">
                <a16:creationId xmlns:a16="http://schemas.microsoft.com/office/drawing/2014/main" id="{E4109CF9-060C-C47F-EC2B-C975FA8AA455}"/>
              </a:ext>
            </a:extLst>
          </p:cNvPr>
          <p:cNvSpPr/>
          <p:nvPr/>
        </p:nvSpPr>
        <p:spPr>
          <a:xfrm rot="16200000">
            <a:off x="5977027" y="1555576"/>
            <a:ext cx="360000" cy="79250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551FC6B3-1B8B-B3CE-9867-1668127D72DD}"/>
              </a:ext>
            </a:extLst>
          </p:cNvPr>
          <p:cNvSpPr/>
          <p:nvPr/>
        </p:nvSpPr>
        <p:spPr>
          <a:xfrm rot="16200000">
            <a:off x="3940172" y="5334211"/>
            <a:ext cx="162000" cy="4215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/>
          <p:cNvSpPr/>
          <p:nvPr/>
        </p:nvSpPr>
        <p:spPr>
          <a:xfrm>
            <a:off x="8168670" y="4671700"/>
            <a:ext cx="212118" cy="443619"/>
          </a:xfrm>
          <a:prstGeom prst="ellipse">
            <a:avLst/>
          </a:prstGeom>
          <a:solidFill>
            <a:schemeClr val="accent5">
              <a:lumMod val="20000"/>
              <a:lumOff val="80000"/>
              <a:alpha val="95000"/>
            </a:schemeClr>
          </a:solidFill>
          <a:ln>
            <a:solidFill>
              <a:schemeClr val="accent1">
                <a:shade val="50000"/>
                <a:alpha val="82000"/>
              </a:schemeClr>
            </a:solidFill>
          </a:ln>
          <a:scene3d>
            <a:camera prst="orthographicFront">
              <a:rot lat="0" lon="2700000" rev="0"/>
            </a:camera>
            <a:lightRig rig="threePt" dir="t"/>
          </a:scene3d>
          <a:sp3d>
            <a:bevelT prst="angle"/>
            <a:bevelB prst="convex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6" name="Oval 85"/>
          <p:cNvSpPr/>
          <p:nvPr/>
        </p:nvSpPr>
        <p:spPr>
          <a:xfrm rot="5400000">
            <a:off x="7577082" y="5126935"/>
            <a:ext cx="212118" cy="443619"/>
          </a:xfrm>
          <a:prstGeom prst="ellipse">
            <a:avLst/>
          </a:prstGeom>
          <a:solidFill>
            <a:schemeClr val="accent5">
              <a:lumMod val="20000"/>
              <a:lumOff val="80000"/>
              <a:alpha val="95000"/>
            </a:schemeClr>
          </a:solidFill>
          <a:ln>
            <a:solidFill>
              <a:schemeClr val="accent1">
                <a:shade val="50000"/>
                <a:alpha val="82000"/>
              </a:schemeClr>
            </a:solidFill>
          </a:ln>
          <a:scene3d>
            <a:camera prst="orthographicFront">
              <a:rot lat="0" lon="2700000" rev="0"/>
            </a:camera>
            <a:lightRig rig="threePt" dir="t"/>
          </a:scene3d>
          <a:sp3d>
            <a:bevelT prst="angle"/>
            <a:bevelB prst="convex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DF5ECC0-1497-DDF9-BBF9-35DA6071AD4A}"/>
              </a:ext>
            </a:extLst>
          </p:cNvPr>
          <p:cNvSpPr/>
          <p:nvPr/>
        </p:nvSpPr>
        <p:spPr>
          <a:xfrm rot="10800000">
            <a:off x="7923704" y="4845581"/>
            <a:ext cx="348656" cy="79250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246BBCDC-0662-8848-38BF-AA907006025B}"/>
              </a:ext>
            </a:extLst>
          </p:cNvPr>
          <p:cNvSpPr/>
          <p:nvPr/>
        </p:nvSpPr>
        <p:spPr>
          <a:xfrm rot="5400000">
            <a:off x="7548034" y="5191632"/>
            <a:ext cx="253492" cy="72000"/>
          </a:xfrm>
          <a:prstGeom prst="rect">
            <a:avLst/>
          </a:prstGeom>
          <a:gradFill>
            <a:gsLst>
              <a:gs pos="3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41C0683C-3A2B-3237-AD8D-6BFD1CB8D6F9}"/>
              </a:ext>
            </a:extLst>
          </p:cNvPr>
          <p:cNvSpPr/>
          <p:nvPr/>
        </p:nvSpPr>
        <p:spPr>
          <a:xfrm>
            <a:off x="5551968" y="1150534"/>
            <a:ext cx="180000" cy="602575"/>
          </a:xfrm>
          <a:prstGeom prst="rect">
            <a:avLst/>
          </a:prstGeom>
          <a:pattFill prst="pct90">
            <a:fgClr>
              <a:schemeClr val="bg1">
                <a:lumMod val="65000"/>
              </a:schemeClr>
            </a:fgClr>
            <a:bgClr>
              <a:schemeClr val="bg1"/>
            </a:bgClr>
          </a:pattFill>
          <a:effectLst>
            <a:glow>
              <a:schemeClr val="accent1">
                <a:alpha val="40000"/>
              </a:schemeClr>
            </a:glow>
          </a:effectLst>
          <a:scene3d>
            <a:camera prst="orthographicFront">
              <a:rot lat="2400000" lon="19799980" rev="0"/>
            </a:camera>
            <a:lightRig rig="balanced" dir="t"/>
          </a:scene3d>
          <a:sp3d extrusionH="44450" prstMaterial="metal">
            <a:bevelT w="0" h="0" prst="angle"/>
            <a:bevelB w="0" h="0"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E4109CF9-060C-C47F-EC2B-C975FA8AA455}"/>
              </a:ext>
            </a:extLst>
          </p:cNvPr>
          <p:cNvSpPr/>
          <p:nvPr/>
        </p:nvSpPr>
        <p:spPr>
          <a:xfrm>
            <a:off x="5658385" y="1411549"/>
            <a:ext cx="540000" cy="72000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41C0683C-3A2B-3237-AD8D-6BFD1CB8D6F9}"/>
              </a:ext>
            </a:extLst>
          </p:cNvPr>
          <p:cNvSpPr/>
          <p:nvPr/>
        </p:nvSpPr>
        <p:spPr>
          <a:xfrm rot="18480000">
            <a:off x="6113617" y="1127948"/>
            <a:ext cx="108000" cy="648000"/>
          </a:xfrm>
          <a:prstGeom prst="rect">
            <a:avLst/>
          </a:prstGeom>
          <a:solidFill>
            <a:schemeClr val="bg1">
              <a:lumMod val="65000"/>
            </a:schemeClr>
          </a:solidFill>
          <a:scene3d>
            <a:camera prst="orthographicFront"/>
            <a:lightRig rig="threePt" dir="t"/>
          </a:scene3d>
          <a:sp3d>
            <a:bevelT prst="angle"/>
            <a:bevelB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0E2F301-84CD-72CE-A4DD-F8BD2D56E74D}"/>
              </a:ext>
            </a:extLst>
          </p:cNvPr>
          <p:cNvSpPr txBox="1"/>
          <p:nvPr/>
        </p:nvSpPr>
        <p:spPr>
          <a:xfrm>
            <a:off x="4121198" y="1220337"/>
            <a:ext cx="1473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Laser Blocker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3181888-A1C8-0611-A2B7-3ACD423B2EEE}"/>
              </a:ext>
            </a:extLst>
          </p:cNvPr>
          <p:cNvSpPr txBox="1"/>
          <p:nvPr/>
        </p:nvSpPr>
        <p:spPr>
          <a:xfrm>
            <a:off x="6226555" y="1189627"/>
            <a:ext cx="679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DM2 </a:t>
            </a:r>
          </a:p>
        </p:txBody>
      </p:sp>
    </p:spTree>
    <p:extLst>
      <p:ext uri="{BB962C8B-B14F-4D97-AF65-F5344CB8AC3E}">
        <p14:creationId xmlns:p14="http://schemas.microsoft.com/office/powerpoint/2010/main" val="25326212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277" y="3165342"/>
            <a:ext cx="3420000" cy="314813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703" y="3165341"/>
            <a:ext cx="3420000" cy="3151968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14" t="5119" r="2583" b="6623"/>
          <a:stretch/>
        </p:blipFill>
        <p:spPr>
          <a:xfrm>
            <a:off x="7821724" y="3216903"/>
            <a:ext cx="3854463" cy="300128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637347" y="433337"/>
            <a:ext cx="4119224" cy="262312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9170321" y="1484067"/>
            <a:ext cx="1457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Raman Plot</a:t>
            </a:r>
            <a:endParaRPr lang="en-IN" dirty="0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" t="25868" r="95583" b="30528"/>
          <a:stretch/>
        </p:blipFill>
        <p:spPr>
          <a:xfrm>
            <a:off x="7669920" y="4103860"/>
            <a:ext cx="161853" cy="1384119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989" t="93427" r="34796" b="-494"/>
          <a:stretch/>
        </p:blipFill>
        <p:spPr>
          <a:xfrm>
            <a:off x="9506935" y="6210119"/>
            <a:ext cx="944545" cy="206725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637346" y="3165342"/>
            <a:ext cx="4119227" cy="32316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9" name="Picture 8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215277" y="433335"/>
            <a:ext cx="3420000" cy="26280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08205" y="362211"/>
            <a:ext cx="3590855" cy="2645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8021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019"/>
          <a:stretch/>
        </p:blipFill>
        <p:spPr>
          <a:xfrm>
            <a:off x="3857000" y="258932"/>
            <a:ext cx="3578411" cy="3037162"/>
          </a:xfrm>
          <a:prstGeom prst="rect">
            <a:avLst/>
          </a:prstGeom>
        </p:spPr>
      </p:pic>
      <p:cxnSp>
        <p:nvCxnSpPr>
          <p:cNvPr id="6" name="Straight Connector 5"/>
          <p:cNvCxnSpPr/>
          <p:nvPr/>
        </p:nvCxnSpPr>
        <p:spPr>
          <a:xfrm>
            <a:off x="3945866" y="3148028"/>
            <a:ext cx="756000" cy="4618"/>
          </a:xfrm>
          <a:prstGeom prst="line">
            <a:avLst/>
          </a:prstGeom>
          <a:ln w="571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856998" y="2778696"/>
            <a:ext cx="11455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500 nm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271"/>
          <a:stretch/>
        </p:blipFill>
        <p:spPr>
          <a:xfrm>
            <a:off x="248982" y="258931"/>
            <a:ext cx="3528286" cy="3047796"/>
          </a:xfrm>
          <a:prstGeom prst="rect">
            <a:avLst/>
          </a:prstGeom>
        </p:spPr>
      </p:pic>
      <p:cxnSp>
        <p:nvCxnSpPr>
          <p:cNvPr id="5" name="Straight Connector 4"/>
          <p:cNvCxnSpPr/>
          <p:nvPr/>
        </p:nvCxnSpPr>
        <p:spPr>
          <a:xfrm>
            <a:off x="361845" y="3152646"/>
            <a:ext cx="1180226" cy="9236"/>
          </a:xfrm>
          <a:prstGeom prst="line">
            <a:avLst/>
          </a:prstGeom>
          <a:ln w="571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69078" y="2778696"/>
            <a:ext cx="11455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 µm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V="1">
            <a:off x="5713535" y="2216443"/>
            <a:ext cx="71055" cy="114300"/>
          </a:xfrm>
          <a:prstGeom prst="straightConnector1">
            <a:avLst/>
          </a:prstGeom>
          <a:ln>
            <a:solidFill>
              <a:srgbClr val="FFFF00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 rot="18026576">
            <a:off x="5127969" y="1802754"/>
            <a:ext cx="11455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94.98 nm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0582" y="-40962"/>
            <a:ext cx="5124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2309" y="-40962"/>
            <a:ext cx="52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1444091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277" y="3165342"/>
            <a:ext cx="3420000" cy="314813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703" y="3165341"/>
            <a:ext cx="3420000" cy="3151968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14" t="5119" r="2583" b="6623"/>
          <a:stretch/>
        </p:blipFill>
        <p:spPr>
          <a:xfrm>
            <a:off x="7821724" y="3216903"/>
            <a:ext cx="3854463" cy="300128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637347" y="433337"/>
            <a:ext cx="4119224" cy="262312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9170321" y="1484067"/>
            <a:ext cx="1457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Raman Plot</a:t>
            </a:r>
            <a:endParaRPr lang="en-IN" dirty="0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" t="25868" r="95583" b="30528"/>
          <a:stretch/>
        </p:blipFill>
        <p:spPr>
          <a:xfrm>
            <a:off x="7669920" y="4103860"/>
            <a:ext cx="161853" cy="1384119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989" t="93427" r="34796" b="-494"/>
          <a:stretch/>
        </p:blipFill>
        <p:spPr>
          <a:xfrm>
            <a:off x="9506935" y="6210119"/>
            <a:ext cx="944545" cy="206725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637346" y="3165342"/>
            <a:ext cx="4119227" cy="32316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9" name="Picture 8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215277" y="433335"/>
            <a:ext cx="3420000" cy="26280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08205" y="362211"/>
            <a:ext cx="3590855" cy="2645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034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352711" y="1424154"/>
            <a:ext cx="4856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8707" y="1823701"/>
            <a:ext cx="371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8708" y="2219780"/>
            <a:ext cx="3699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8558" y="3403882"/>
            <a:ext cx="2801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 rot="16200000">
            <a:off x="502737" y="2419362"/>
            <a:ext cx="1725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Transmittance (%)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87692" y="360997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7767" y="3763332"/>
            <a:ext cx="19736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Wavenumber (cm</a:t>
            </a:r>
            <a:r>
              <a:rPr lang="en-IN" sz="16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02" t="14861" r="9488" b="11806"/>
          <a:stretch/>
        </p:blipFill>
        <p:spPr>
          <a:xfrm>
            <a:off x="1714501" y="1428750"/>
            <a:ext cx="3067049" cy="22585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40383" y="2613341"/>
            <a:ext cx="3699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0383" y="3005226"/>
            <a:ext cx="3699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16421" y="360997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53526" y="360997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70534" y="360997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97587" y="360997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09570" y="360997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1696" y="360997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72360" y="360997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62236" y="4072104"/>
            <a:ext cx="4856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48232" y="4471651"/>
            <a:ext cx="371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48233" y="4867730"/>
            <a:ext cx="3699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38083" y="6051832"/>
            <a:ext cx="2801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 rot="16200000">
            <a:off x="392309" y="4918783"/>
            <a:ext cx="19655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 (arb. unit)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97217" y="625792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77292" y="6411282"/>
            <a:ext cx="19736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Binding energy (eV)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49908" y="5261291"/>
            <a:ext cx="3699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49908" y="5653176"/>
            <a:ext cx="3699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25946" y="625792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63051" y="625792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80059" y="625792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07112" y="625792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19095" y="625792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61221" y="625792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81885" y="6257925"/>
            <a:ext cx="559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24025" y="4076700"/>
            <a:ext cx="3048000" cy="22479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0" name="Rectangle 49"/>
          <p:cNvSpPr/>
          <p:nvPr/>
        </p:nvSpPr>
        <p:spPr>
          <a:xfrm>
            <a:off x="1724025" y="152400"/>
            <a:ext cx="3048000" cy="120015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1" name="TextBox 50"/>
          <p:cNvSpPr txBox="1"/>
          <p:nvPr/>
        </p:nvSpPr>
        <p:spPr>
          <a:xfrm>
            <a:off x="2991282" y="4976476"/>
            <a:ext cx="637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62657" y="556876"/>
            <a:ext cx="1380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FTIR Schematic </a:t>
            </a:r>
          </a:p>
        </p:txBody>
      </p:sp>
      <p:pic>
        <p:nvPicPr>
          <p:cNvPr id="53" name="Picture 5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3413" y="250027"/>
            <a:ext cx="3846909" cy="6681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8860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E253A3-6F31-50FE-789B-16E8C1CEC9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685" t="4580" r="6165" b="13307"/>
          <a:stretch>
            <a:fillRect/>
          </a:stretch>
        </p:blipFill>
        <p:spPr>
          <a:xfrm>
            <a:off x="951238" y="949283"/>
            <a:ext cx="3376602" cy="23196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1E6EF3A-D618-51CE-5A97-8181F431097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188" t="4432" r="6221" b="13518"/>
          <a:stretch>
            <a:fillRect/>
          </a:stretch>
        </p:blipFill>
        <p:spPr>
          <a:xfrm>
            <a:off x="4594459" y="935652"/>
            <a:ext cx="3307080" cy="23333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0DE7157-3A57-5ACF-BC67-F559D86FBBA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161" t="4478" r="6498" b="13056"/>
          <a:stretch>
            <a:fillRect/>
          </a:stretch>
        </p:blipFill>
        <p:spPr>
          <a:xfrm>
            <a:off x="8171848" y="935651"/>
            <a:ext cx="3304840" cy="234695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2ADC967-AA69-D1B2-0397-607A698A309F}"/>
              </a:ext>
            </a:extLst>
          </p:cNvPr>
          <p:cNvSpPr txBox="1"/>
          <p:nvPr/>
        </p:nvSpPr>
        <p:spPr>
          <a:xfrm>
            <a:off x="916334" y="320143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EAF722-E593-59AC-5AD8-9BC02A134DD6}"/>
              </a:ext>
            </a:extLst>
          </p:cNvPr>
          <p:cNvSpPr txBox="1"/>
          <p:nvPr/>
        </p:nvSpPr>
        <p:spPr>
          <a:xfrm>
            <a:off x="2189949" y="320143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BFB471-A85C-A160-0373-D13F7EDB4989}"/>
              </a:ext>
            </a:extLst>
          </p:cNvPr>
          <p:cNvSpPr txBox="1"/>
          <p:nvPr/>
        </p:nvSpPr>
        <p:spPr>
          <a:xfrm>
            <a:off x="3435819" y="3201433"/>
            <a:ext cx="5452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78D827-E019-B14D-AB4C-DAB11675E33C}"/>
              </a:ext>
            </a:extLst>
          </p:cNvPr>
          <p:cNvSpPr txBox="1"/>
          <p:nvPr/>
        </p:nvSpPr>
        <p:spPr>
          <a:xfrm>
            <a:off x="1322105" y="3186193"/>
            <a:ext cx="2544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08117ED-0DB5-E424-586A-2F847101D8F8}"/>
              </a:ext>
            </a:extLst>
          </p:cNvPr>
          <p:cNvSpPr txBox="1"/>
          <p:nvPr/>
        </p:nvSpPr>
        <p:spPr>
          <a:xfrm>
            <a:off x="1556224" y="3186193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549A867-AEF5-DF5D-CDB8-DFC214427E24}"/>
              </a:ext>
            </a:extLst>
          </p:cNvPr>
          <p:cNvSpPr txBox="1"/>
          <p:nvPr/>
        </p:nvSpPr>
        <p:spPr>
          <a:xfrm>
            <a:off x="1707751" y="3180796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2A94FA-3021-E37C-3F2B-6799CE23B1CA}"/>
              </a:ext>
            </a:extLst>
          </p:cNvPr>
          <p:cNvSpPr txBox="1"/>
          <p:nvPr/>
        </p:nvSpPr>
        <p:spPr>
          <a:xfrm>
            <a:off x="1845372" y="3180796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0565C6-C093-E16C-2DCA-1A2C96C9B746}"/>
              </a:ext>
            </a:extLst>
          </p:cNvPr>
          <p:cNvSpPr txBox="1"/>
          <p:nvPr/>
        </p:nvSpPr>
        <p:spPr>
          <a:xfrm>
            <a:off x="1940017" y="3180796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DC105C-24BE-EBAD-34B7-B8F90A8D9E96}"/>
              </a:ext>
            </a:extLst>
          </p:cNvPr>
          <p:cNvSpPr txBox="1"/>
          <p:nvPr/>
        </p:nvSpPr>
        <p:spPr>
          <a:xfrm>
            <a:off x="2035642" y="3180796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B762DA-EBAC-FBFF-3FBC-5B90ED626708}"/>
              </a:ext>
            </a:extLst>
          </p:cNvPr>
          <p:cNvSpPr txBox="1"/>
          <p:nvPr/>
        </p:nvSpPr>
        <p:spPr>
          <a:xfrm>
            <a:off x="2628308" y="3186193"/>
            <a:ext cx="2544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FA5356-8E4E-EADF-3E89-B07CC6E95895}"/>
              </a:ext>
            </a:extLst>
          </p:cNvPr>
          <p:cNvSpPr txBox="1"/>
          <p:nvPr/>
        </p:nvSpPr>
        <p:spPr>
          <a:xfrm>
            <a:off x="2862427" y="3186193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6422EDC-C8BC-F8BA-E6C6-49193844358D}"/>
              </a:ext>
            </a:extLst>
          </p:cNvPr>
          <p:cNvSpPr txBox="1"/>
          <p:nvPr/>
        </p:nvSpPr>
        <p:spPr>
          <a:xfrm>
            <a:off x="3151575" y="3180796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ADE2FD-234B-CAB6-C501-4C15A67BB9D4}"/>
              </a:ext>
            </a:extLst>
          </p:cNvPr>
          <p:cNvSpPr txBox="1"/>
          <p:nvPr/>
        </p:nvSpPr>
        <p:spPr>
          <a:xfrm>
            <a:off x="3341845" y="3180796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49ABE0-B585-08D1-2776-D7051FABFB0A}"/>
              </a:ext>
            </a:extLst>
          </p:cNvPr>
          <p:cNvSpPr txBox="1"/>
          <p:nvPr/>
        </p:nvSpPr>
        <p:spPr>
          <a:xfrm>
            <a:off x="3019267" y="3180796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3676E8-825B-2D56-E738-EAEB84A8EED4}"/>
              </a:ext>
            </a:extLst>
          </p:cNvPr>
          <p:cNvSpPr txBox="1"/>
          <p:nvPr/>
        </p:nvSpPr>
        <p:spPr>
          <a:xfrm>
            <a:off x="3245669" y="3180796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0958814-75C0-21EC-2C88-B10C230EC77C}"/>
              </a:ext>
            </a:extLst>
          </p:cNvPr>
          <p:cNvSpPr txBox="1"/>
          <p:nvPr/>
        </p:nvSpPr>
        <p:spPr>
          <a:xfrm>
            <a:off x="3947806" y="3180796"/>
            <a:ext cx="2544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6910B49-75B0-BB72-18D3-19CE1C07F837}"/>
              </a:ext>
            </a:extLst>
          </p:cNvPr>
          <p:cNvSpPr txBox="1"/>
          <p:nvPr/>
        </p:nvSpPr>
        <p:spPr>
          <a:xfrm>
            <a:off x="4181925" y="3180796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0CEFFFD-BBF3-F337-E991-DA7890745B9E}"/>
              </a:ext>
            </a:extLst>
          </p:cNvPr>
          <p:cNvSpPr txBox="1"/>
          <p:nvPr/>
        </p:nvSpPr>
        <p:spPr>
          <a:xfrm>
            <a:off x="4555604" y="319706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D760D5F-CF7D-A4E3-09E6-6D9EE857E377}"/>
              </a:ext>
            </a:extLst>
          </p:cNvPr>
          <p:cNvSpPr txBox="1"/>
          <p:nvPr/>
        </p:nvSpPr>
        <p:spPr>
          <a:xfrm>
            <a:off x="5793659" y="321311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F120E0-C0AC-FF9D-5F85-39001EBA31C6}"/>
              </a:ext>
            </a:extLst>
          </p:cNvPr>
          <p:cNvSpPr txBox="1"/>
          <p:nvPr/>
        </p:nvSpPr>
        <p:spPr>
          <a:xfrm>
            <a:off x="7029369" y="3213111"/>
            <a:ext cx="5452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8A3088E-86CC-5AE4-2340-0EC0F304216A}"/>
              </a:ext>
            </a:extLst>
          </p:cNvPr>
          <p:cNvSpPr txBox="1"/>
          <p:nvPr/>
        </p:nvSpPr>
        <p:spPr>
          <a:xfrm>
            <a:off x="4961375" y="3186909"/>
            <a:ext cx="2544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520262D-9AB6-62CD-1C1F-B2802BB78A6B}"/>
              </a:ext>
            </a:extLst>
          </p:cNvPr>
          <p:cNvSpPr txBox="1"/>
          <p:nvPr/>
        </p:nvSpPr>
        <p:spPr>
          <a:xfrm>
            <a:off x="5189190" y="3184425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8D0AF7C-30E6-31F2-A978-A37D6AF7234A}"/>
              </a:ext>
            </a:extLst>
          </p:cNvPr>
          <p:cNvSpPr txBox="1"/>
          <p:nvPr/>
        </p:nvSpPr>
        <p:spPr>
          <a:xfrm>
            <a:off x="5331680" y="3184427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C9BFCE6-AD12-C8AA-26DB-A808DE2C5D5B}"/>
              </a:ext>
            </a:extLst>
          </p:cNvPr>
          <p:cNvSpPr txBox="1"/>
          <p:nvPr/>
        </p:nvSpPr>
        <p:spPr>
          <a:xfrm>
            <a:off x="5466283" y="3184427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DD9107-3541-92EF-4483-13D721729F6C}"/>
              </a:ext>
            </a:extLst>
          </p:cNvPr>
          <p:cNvSpPr txBox="1"/>
          <p:nvPr/>
        </p:nvSpPr>
        <p:spPr>
          <a:xfrm>
            <a:off x="5564047" y="3181512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0B55248-169F-B6E9-D476-22D1C56BE9DB}"/>
              </a:ext>
            </a:extLst>
          </p:cNvPr>
          <p:cNvSpPr txBox="1"/>
          <p:nvPr/>
        </p:nvSpPr>
        <p:spPr>
          <a:xfrm>
            <a:off x="5652640" y="3184427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47A2AE2-A1F1-86B8-8285-DDA940D768B8}"/>
              </a:ext>
            </a:extLst>
          </p:cNvPr>
          <p:cNvSpPr txBox="1"/>
          <p:nvPr/>
        </p:nvSpPr>
        <p:spPr>
          <a:xfrm>
            <a:off x="6238102" y="3191097"/>
            <a:ext cx="2544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627765C-9C89-D28D-1B2B-C1D74C849E6D}"/>
              </a:ext>
            </a:extLst>
          </p:cNvPr>
          <p:cNvSpPr txBox="1"/>
          <p:nvPr/>
        </p:nvSpPr>
        <p:spPr>
          <a:xfrm>
            <a:off x="6461423" y="3184426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2223EA8-9A95-EE08-3DFF-3077EA930402}"/>
              </a:ext>
            </a:extLst>
          </p:cNvPr>
          <p:cNvSpPr txBox="1"/>
          <p:nvPr/>
        </p:nvSpPr>
        <p:spPr>
          <a:xfrm>
            <a:off x="6742923" y="3185696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5B37226-8F27-831B-21A0-50D744A168A1}"/>
              </a:ext>
            </a:extLst>
          </p:cNvPr>
          <p:cNvSpPr txBox="1"/>
          <p:nvPr/>
        </p:nvSpPr>
        <p:spPr>
          <a:xfrm>
            <a:off x="6930805" y="3180617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5D033FF-355A-5CB0-7C8A-1EB3DBAA743A}"/>
              </a:ext>
            </a:extLst>
          </p:cNvPr>
          <p:cNvSpPr txBox="1"/>
          <p:nvPr/>
        </p:nvSpPr>
        <p:spPr>
          <a:xfrm>
            <a:off x="6609766" y="3184424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2018806-C818-F032-B1D8-6B082F367AA6}"/>
              </a:ext>
            </a:extLst>
          </p:cNvPr>
          <p:cNvSpPr txBox="1"/>
          <p:nvPr/>
        </p:nvSpPr>
        <p:spPr>
          <a:xfrm>
            <a:off x="6842212" y="3180617"/>
            <a:ext cx="1871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C834893-00EA-16F6-5416-7671AAD62CB1}"/>
              </a:ext>
            </a:extLst>
          </p:cNvPr>
          <p:cNvSpPr txBox="1"/>
          <p:nvPr/>
        </p:nvSpPr>
        <p:spPr>
          <a:xfrm>
            <a:off x="7516643" y="3186069"/>
            <a:ext cx="2544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C588924-7459-6BA0-4BB0-2B8D95802DEC}"/>
              </a:ext>
            </a:extLst>
          </p:cNvPr>
          <p:cNvSpPr txBox="1"/>
          <p:nvPr/>
        </p:nvSpPr>
        <p:spPr>
          <a:xfrm>
            <a:off x="7745912" y="3180616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92200FF-E88C-22D1-D3ED-E05D62303689}"/>
              </a:ext>
            </a:extLst>
          </p:cNvPr>
          <p:cNvSpPr txBox="1"/>
          <p:nvPr/>
        </p:nvSpPr>
        <p:spPr>
          <a:xfrm>
            <a:off x="8139942" y="320367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F77F1CB-A233-103B-85F5-5BFBD1B3D0B3}"/>
              </a:ext>
            </a:extLst>
          </p:cNvPr>
          <p:cNvSpPr txBox="1"/>
          <p:nvPr/>
        </p:nvSpPr>
        <p:spPr>
          <a:xfrm>
            <a:off x="9377997" y="320367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1647F33-0025-ABBB-0204-89C17C117668}"/>
              </a:ext>
            </a:extLst>
          </p:cNvPr>
          <p:cNvSpPr txBox="1"/>
          <p:nvPr/>
        </p:nvSpPr>
        <p:spPr>
          <a:xfrm>
            <a:off x="10613707" y="3203677"/>
            <a:ext cx="5452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3F19991-475D-FB63-5BEE-9E7238379853}"/>
              </a:ext>
            </a:extLst>
          </p:cNvPr>
          <p:cNvSpPr txBox="1"/>
          <p:nvPr/>
        </p:nvSpPr>
        <p:spPr>
          <a:xfrm>
            <a:off x="8545713" y="3193517"/>
            <a:ext cx="2544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7FBE923-1DAC-5E8B-7EF5-7D1811882ABC}"/>
              </a:ext>
            </a:extLst>
          </p:cNvPr>
          <p:cNvSpPr txBox="1"/>
          <p:nvPr/>
        </p:nvSpPr>
        <p:spPr>
          <a:xfrm>
            <a:off x="8773528" y="3191033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A3202BA-81FA-780C-89C2-E8374E7B8EC4}"/>
              </a:ext>
            </a:extLst>
          </p:cNvPr>
          <p:cNvSpPr txBox="1"/>
          <p:nvPr/>
        </p:nvSpPr>
        <p:spPr>
          <a:xfrm>
            <a:off x="8916018" y="3191035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F8F648B-EB5A-B4D8-6A57-73497696A72C}"/>
              </a:ext>
            </a:extLst>
          </p:cNvPr>
          <p:cNvSpPr txBox="1"/>
          <p:nvPr/>
        </p:nvSpPr>
        <p:spPr>
          <a:xfrm>
            <a:off x="9050621" y="3191035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C8B32DB-5936-618A-5145-80F3DC864C03}"/>
              </a:ext>
            </a:extLst>
          </p:cNvPr>
          <p:cNvSpPr txBox="1"/>
          <p:nvPr/>
        </p:nvSpPr>
        <p:spPr>
          <a:xfrm>
            <a:off x="9148385" y="3188120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3B5AC67-122B-8A42-9F89-E74EF40FD020}"/>
              </a:ext>
            </a:extLst>
          </p:cNvPr>
          <p:cNvSpPr txBox="1"/>
          <p:nvPr/>
        </p:nvSpPr>
        <p:spPr>
          <a:xfrm>
            <a:off x="9236978" y="3191035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CDAD44E-8E46-EBDE-5C4B-FDB684D01610}"/>
              </a:ext>
            </a:extLst>
          </p:cNvPr>
          <p:cNvSpPr txBox="1"/>
          <p:nvPr/>
        </p:nvSpPr>
        <p:spPr>
          <a:xfrm>
            <a:off x="9822440" y="3197705"/>
            <a:ext cx="2544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538E283-4945-1F6E-EF5D-23D8BD61194A}"/>
              </a:ext>
            </a:extLst>
          </p:cNvPr>
          <p:cNvSpPr txBox="1"/>
          <p:nvPr/>
        </p:nvSpPr>
        <p:spPr>
          <a:xfrm>
            <a:off x="10045761" y="3191034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F75CBF4-42C5-07B2-E085-ED4F54D1A794}"/>
              </a:ext>
            </a:extLst>
          </p:cNvPr>
          <p:cNvSpPr txBox="1"/>
          <p:nvPr/>
        </p:nvSpPr>
        <p:spPr>
          <a:xfrm>
            <a:off x="10327261" y="3192304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2C51D2E-C439-9258-B311-89B2626B2A5F}"/>
              </a:ext>
            </a:extLst>
          </p:cNvPr>
          <p:cNvSpPr txBox="1"/>
          <p:nvPr/>
        </p:nvSpPr>
        <p:spPr>
          <a:xfrm>
            <a:off x="10515143" y="3187225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E138FF8-906E-E910-92BE-7FBEDDBDA920}"/>
              </a:ext>
            </a:extLst>
          </p:cNvPr>
          <p:cNvSpPr txBox="1"/>
          <p:nvPr/>
        </p:nvSpPr>
        <p:spPr>
          <a:xfrm>
            <a:off x="10194104" y="3191032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2673666-769D-7850-9158-ED8F75AB2FB3}"/>
              </a:ext>
            </a:extLst>
          </p:cNvPr>
          <p:cNvSpPr txBox="1"/>
          <p:nvPr/>
        </p:nvSpPr>
        <p:spPr>
          <a:xfrm>
            <a:off x="10426550" y="3187225"/>
            <a:ext cx="1871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61686C0-D541-4444-ACA4-3176D50CD313}"/>
              </a:ext>
            </a:extLst>
          </p:cNvPr>
          <p:cNvSpPr txBox="1"/>
          <p:nvPr/>
        </p:nvSpPr>
        <p:spPr>
          <a:xfrm>
            <a:off x="11100981" y="3192677"/>
            <a:ext cx="2544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357AA55-F085-FC1B-84C8-127C6C7BC2D6}"/>
              </a:ext>
            </a:extLst>
          </p:cNvPr>
          <p:cNvSpPr txBox="1"/>
          <p:nvPr/>
        </p:nvSpPr>
        <p:spPr>
          <a:xfrm>
            <a:off x="11330250" y="3187224"/>
            <a:ext cx="2332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0B09204-6795-D5B0-FCBA-9BE12BEC442D}"/>
              </a:ext>
            </a:extLst>
          </p:cNvPr>
          <p:cNvSpPr txBox="1"/>
          <p:nvPr/>
        </p:nvSpPr>
        <p:spPr>
          <a:xfrm>
            <a:off x="600131" y="2995949"/>
            <a:ext cx="4984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IN" sz="1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73797E8-3A42-BFF0-DFE4-C7B43822FB45}"/>
              </a:ext>
            </a:extLst>
          </p:cNvPr>
          <p:cNvSpPr txBox="1"/>
          <p:nvPr/>
        </p:nvSpPr>
        <p:spPr>
          <a:xfrm>
            <a:off x="595162" y="2555133"/>
            <a:ext cx="4984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IN" sz="1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081A3F2-4678-809B-4B2E-7312D415FB26}"/>
              </a:ext>
            </a:extLst>
          </p:cNvPr>
          <p:cNvSpPr txBox="1"/>
          <p:nvPr/>
        </p:nvSpPr>
        <p:spPr>
          <a:xfrm>
            <a:off x="604623" y="2104480"/>
            <a:ext cx="4984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IN" sz="1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65F0575-1781-3DFF-B9F0-899CCDA68B21}"/>
              </a:ext>
            </a:extLst>
          </p:cNvPr>
          <p:cNvSpPr txBox="1"/>
          <p:nvPr/>
        </p:nvSpPr>
        <p:spPr>
          <a:xfrm>
            <a:off x="595162" y="1664842"/>
            <a:ext cx="4984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IN" sz="1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E409A77-8B34-BB6C-CB19-EC9131AD3106}"/>
              </a:ext>
            </a:extLst>
          </p:cNvPr>
          <p:cNvSpPr txBox="1"/>
          <p:nvPr/>
        </p:nvSpPr>
        <p:spPr>
          <a:xfrm>
            <a:off x="592598" y="1229666"/>
            <a:ext cx="4984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IN" sz="1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20E6CC2-3171-88A1-63A9-6BBD91D6F5AD}"/>
              </a:ext>
            </a:extLst>
          </p:cNvPr>
          <p:cNvSpPr txBox="1"/>
          <p:nvPr/>
        </p:nvSpPr>
        <p:spPr>
          <a:xfrm>
            <a:off x="604623" y="781762"/>
            <a:ext cx="4984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IN" sz="1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6F64A39-B906-76DE-E762-9DC1855C4E13}"/>
              </a:ext>
            </a:extLst>
          </p:cNvPr>
          <p:cNvSpPr txBox="1"/>
          <p:nvPr/>
        </p:nvSpPr>
        <p:spPr>
          <a:xfrm>
            <a:off x="4245046" y="3003293"/>
            <a:ext cx="4984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IN" sz="1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F68B783-E08A-C30C-AE87-0074E4735B66}"/>
              </a:ext>
            </a:extLst>
          </p:cNvPr>
          <p:cNvSpPr txBox="1"/>
          <p:nvPr/>
        </p:nvSpPr>
        <p:spPr>
          <a:xfrm>
            <a:off x="4237513" y="2491473"/>
            <a:ext cx="4984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IN" sz="1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7ED169F-1958-0F55-6EDD-45A43D2EF814}"/>
              </a:ext>
            </a:extLst>
          </p:cNvPr>
          <p:cNvSpPr txBox="1"/>
          <p:nvPr/>
        </p:nvSpPr>
        <p:spPr>
          <a:xfrm>
            <a:off x="4244252" y="1979653"/>
            <a:ext cx="4984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IN" sz="1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D1147C1-6C01-882B-9536-0DE1B4682488}"/>
              </a:ext>
            </a:extLst>
          </p:cNvPr>
          <p:cNvSpPr txBox="1"/>
          <p:nvPr/>
        </p:nvSpPr>
        <p:spPr>
          <a:xfrm>
            <a:off x="4242108" y="1453477"/>
            <a:ext cx="4984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IN" sz="1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-6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CB2BAFC-C596-E3A7-7334-9595FD18990A}"/>
              </a:ext>
            </a:extLst>
          </p:cNvPr>
          <p:cNvSpPr txBox="1"/>
          <p:nvPr/>
        </p:nvSpPr>
        <p:spPr>
          <a:xfrm>
            <a:off x="4235307" y="932834"/>
            <a:ext cx="4984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IN" sz="1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CF6D6E4-A94A-FAB3-DCFB-38E273D9FC18}"/>
              </a:ext>
            </a:extLst>
          </p:cNvPr>
          <p:cNvSpPr txBox="1"/>
          <p:nvPr/>
        </p:nvSpPr>
        <p:spPr>
          <a:xfrm>
            <a:off x="7825278" y="3003569"/>
            <a:ext cx="4984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IN" sz="1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B294F3D-4A83-BA6E-A274-36948A72532E}"/>
              </a:ext>
            </a:extLst>
          </p:cNvPr>
          <p:cNvSpPr txBox="1"/>
          <p:nvPr/>
        </p:nvSpPr>
        <p:spPr>
          <a:xfrm>
            <a:off x="7820309" y="2562753"/>
            <a:ext cx="4984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IN" sz="1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A6C00D8-B25E-2071-7C53-8089104A4D5C}"/>
              </a:ext>
            </a:extLst>
          </p:cNvPr>
          <p:cNvSpPr txBox="1"/>
          <p:nvPr/>
        </p:nvSpPr>
        <p:spPr>
          <a:xfrm>
            <a:off x="7829770" y="2112100"/>
            <a:ext cx="4984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IN" sz="1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DBB8AD7-053E-C686-0742-1883361AB9AD}"/>
              </a:ext>
            </a:extLst>
          </p:cNvPr>
          <p:cNvSpPr txBox="1"/>
          <p:nvPr/>
        </p:nvSpPr>
        <p:spPr>
          <a:xfrm>
            <a:off x="7820309" y="1672462"/>
            <a:ext cx="4984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IN" sz="1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B533ED5-37F6-1E67-4E65-7C85929A5AD4}"/>
              </a:ext>
            </a:extLst>
          </p:cNvPr>
          <p:cNvSpPr txBox="1"/>
          <p:nvPr/>
        </p:nvSpPr>
        <p:spPr>
          <a:xfrm>
            <a:off x="7817745" y="1237286"/>
            <a:ext cx="4984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IN" sz="1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149B396-7052-0F01-0DD1-34D3AF6C10AA}"/>
              </a:ext>
            </a:extLst>
          </p:cNvPr>
          <p:cNvSpPr txBox="1"/>
          <p:nvPr/>
        </p:nvSpPr>
        <p:spPr>
          <a:xfrm>
            <a:off x="7829770" y="789382"/>
            <a:ext cx="4984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IN" sz="1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-3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3B0B53D-862F-8025-EF10-0E58A598D405}"/>
              </a:ext>
            </a:extLst>
          </p:cNvPr>
          <p:cNvSpPr/>
          <p:nvPr/>
        </p:nvSpPr>
        <p:spPr>
          <a:xfrm>
            <a:off x="1089348" y="2994771"/>
            <a:ext cx="1304463" cy="1501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8823CC70-E7B4-0A20-2341-FFC8BE70FF68}"/>
              </a:ext>
            </a:extLst>
          </p:cNvPr>
          <p:cNvSpPr/>
          <p:nvPr/>
        </p:nvSpPr>
        <p:spPr>
          <a:xfrm>
            <a:off x="4748427" y="3010813"/>
            <a:ext cx="1304463" cy="1501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C1D940A-D4E2-8810-830B-26B55CC7AC05}"/>
              </a:ext>
            </a:extLst>
          </p:cNvPr>
          <p:cNvSpPr/>
          <p:nvPr/>
        </p:nvSpPr>
        <p:spPr>
          <a:xfrm>
            <a:off x="8311755" y="2986914"/>
            <a:ext cx="1304463" cy="1501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70FD936-A5D3-8552-B6A4-69600ADA5E63}"/>
              </a:ext>
            </a:extLst>
          </p:cNvPr>
          <p:cNvSpPr txBox="1"/>
          <p:nvPr/>
        </p:nvSpPr>
        <p:spPr>
          <a:xfrm>
            <a:off x="1046516" y="2827866"/>
            <a:ext cx="18524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IN" sz="1600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c,x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11.87 ± 0.32 Hz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D3DA40C-19E4-E5D5-97C8-E0B1FACE06E6}"/>
              </a:ext>
            </a:extLst>
          </p:cNvPr>
          <p:cNvSpPr txBox="1"/>
          <p:nvPr/>
        </p:nvSpPr>
        <p:spPr>
          <a:xfrm>
            <a:off x="4694508" y="2814559"/>
            <a:ext cx="18524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IN" sz="1600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c,y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11.66 ± 0.54 Hz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C7B1FF9-84D8-7F51-C2B8-E1ACE88ADDB1}"/>
              </a:ext>
            </a:extLst>
          </p:cNvPr>
          <p:cNvSpPr txBox="1"/>
          <p:nvPr/>
        </p:nvSpPr>
        <p:spPr>
          <a:xfrm>
            <a:off x="8283693" y="2833332"/>
            <a:ext cx="22120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IN" sz="1600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c,z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9.84 ± 0.50 Hz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2CF2E51-7C3C-66B3-7091-384B056B60D9}"/>
              </a:ext>
            </a:extLst>
          </p:cNvPr>
          <p:cNvSpPr txBox="1"/>
          <p:nvPr/>
        </p:nvSpPr>
        <p:spPr>
          <a:xfrm rot="16200000">
            <a:off x="-105076" y="1803341"/>
            <a:ext cx="1311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PSD (V</a:t>
            </a:r>
            <a:r>
              <a:rPr lang="en-IN" sz="16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/Hz)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F651373-5F1F-C2AC-F06D-FC8A8CDED22C}"/>
              </a:ext>
            </a:extLst>
          </p:cNvPr>
          <p:cNvSpPr txBox="1"/>
          <p:nvPr/>
        </p:nvSpPr>
        <p:spPr>
          <a:xfrm>
            <a:off x="1905341" y="3342177"/>
            <a:ext cx="18557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 (Hz)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507C13D-DD82-5642-C94B-198C8F770834}"/>
              </a:ext>
            </a:extLst>
          </p:cNvPr>
          <p:cNvSpPr txBox="1"/>
          <p:nvPr/>
        </p:nvSpPr>
        <p:spPr>
          <a:xfrm>
            <a:off x="5515090" y="3342177"/>
            <a:ext cx="18557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 (Hz)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D4D70DD-B5CE-C234-F5EB-93F15FC3CDE8}"/>
              </a:ext>
            </a:extLst>
          </p:cNvPr>
          <p:cNvSpPr txBox="1"/>
          <p:nvPr/>
        </p:nvSpPr>
        <p:spPr>
          <a:xfrm>
            <a:off x="9105338" y="3331185"/>
            <a:ext cx="18557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 (Hz)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4D4924D-6149-54BE-0647-EEADECD1C788}"/>
              </a:ext>
            </a:extLst>
          </p:cNvPr>
          <p:cNvSpPr txBox="1"/>
          <p:nvPr/>
        </p:nvSpPr>
        <p:spPr>
          <a:xfrm>
            <a:off x="3981049" y="623547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78D0844-6C47-EE69-7BDE-E3324654AEDA}"/>
              </a:ext>
            </a:extLst>
          </p:cNvPr>
          <p:cNvSpPr txBox="1"/>
          <p:nvPr/>
        </p:nvSpPr>
        <p:spPr>
          <a:xfrm>
            <a:off x="7552156" y="623457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4C8CB08-C4CF-41C8-8313-F15C94A9FAC8}"/>
              </a:ext>
            </a:extLst>
          </p:cNvPr>
          <p:cNvSpPr txBox="1"/>
          <p:nvPr/>
        </p:nvSpPr>
        <p:spPr>
          <a:xfrm>
            <a:off x="11158503" y="620105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115748-E29D-0FAC-1450-42BA1AFA8C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001" y="1853047"/>
            <a:ext cx="11241998" cy="315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245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77" t="7884" r="5654" b="12448"/>
          <a:stretch/>
        </p:blipFill>
        <p:spPr>
          <a:xfrm>
            <a:off x="4546141" y="406400"/>
            <a:ext cx="2964872" cy="214813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14" t="5119" r="2583" b="6623"/>
          <a:stretch/>
        </p:blipFill>
        <p:spPr>
          <a:xfrm>
            <a:off x="8597338" y="3626363"/>
            <a:ext cx="3854463" cy="300128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412960" y="3574802"/>
            <a:ext cx="4119227" cy="32316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/>
          <p:cNvSpPr txBox="1"/>
          <p:nvPr/>
        </p:nvSpPr>
        <p:spPr>
          <a:xfrm>
            <a:off x="1706824" y="2612504"/>
            <a:ext cx="16982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Wavelength (nm)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5827585" y="2612878"/>
                <a:ext cx="78816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16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Θ</m:t>
                    </m:r>
                    <m:r>
                      <a:rPr lang="en-IN" sz="1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(°)</m:t>
                    </m:r>
                  </m:oMath>
                </a14:m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585" y="2612878"/>
                <a:ext cx="788161" cy="338554"/>
              </a:xfrm>
              <a:prstGeom prst="rect">
                <a:avLst/>
              </a:prstGeom>
              <a:blipFill>
                <a:blip r:embed="rId4"/>
                <a:stretch>
                  <a:fillRect l="-4651" t="-5455" b="-2363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/>
          <p:cNvSpPr txBox="1"/>
          <p:nvPr/>
        </p:nvSpPr>
        <p:spPr>
          <a:xfrm rot="16200000">
            <a:off x="7617601" y="4857107"/>
            <a:ext cx="1775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 (arb. unit)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61941" y="6519446"/>
            <a:ext cx="22664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Wavelength (nm)</a:t>
            </a:r>
          </a:p>
        </p:txBody>
      </p:sp>
      <p:sp>
        <p:nvSpPr>
          <p:cNvPr id="5" name="Rectangle 4"/>
          <p:cNvSpPr/>
          <p:nvPr/>
        </p:nvSpPr>
        <p:spPr>
          <a:xfrm>
            <a:off x="1450109" y="482321"/>
            <a:ext cx="1004835" cy="34164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5" name="TextBox 24"/>
          <p:cNvSpPr txBox="1"/>
          <p:nvPr/>
        </p:nvSpPr>
        <p:spPr>
          <a:xfrm>
            <a:off x="3881812" y="76329"/>
            <a:ext cx="469721" cy="376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6902" y="74746"/>
            <a:ext cx="512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60" t="7199" r="5776" b="15746"/>
          <a:stretch/>
        </p:blipFill>
        <p:spPr>
          <a:xfrm>
            <a:off x="1108352" y="378692"/>
            <a:ext cx="3125343" cy="219825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 rot="16200000">
            <a:off x="-123757" y="1242230"/>
            <a:ext cx="18128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 (arb. unit)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3561" y="23543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8179" y="74805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7416" y="128376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7415" y="1837943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1311" y="2373651"/>
            <a:ext cx="31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9166" y="2466015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02620" y="2470633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21457" y="2470633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49530" y="2470633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12948" y="2470633"/>
            <a:ext cx="5434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53699" y="2369033"/>
            <a:ext cx="31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82822" y="24928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87440" y="77114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87441" y="1297615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87440" y="184256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80714" y="2451870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76002" y="2456632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71289" y="2451870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52287" y="2456633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42814" y="2451870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38102" y="2451870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23864" y="2451870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23914" y="2451870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176" y="3058757"/>
            <a:ext cx="7193903" cy="2987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3502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E6C7041-26CE-D618-DFB8-AE4CC0B33E81}"/>
              </a:ext>
            </a:extLst>
          </p:cNvPr>
          <p:cNvGrpSpPr/>
          <p:nvPr/>
        </p:nvGrpSpPr>
        <p:grpSpPr>
          <a:xfrm>
            <a:off x="3273835" y="408592"/>
            <a:ext cx="531221" cy="5969972"/>
            <a:chOff x="287930" y="353062"/>
            <a:chExt cx="531221" cy="5969972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22D9D4FA-62B1-6336-B45E-A7DE832E0BDE}"/>
                </a:ext>
              </a:extLst>
            </p:cNvPr>
            <p:cNvGrpSpPr/>
            <p:nvPr/>
          </p:nvGrpSpPr>
          <p:grpSpPr>
            <a:xfrm flipV="1">
              <a:off x="614363" y="353062"/>
              <a:ext cx="204788" cy="5822436"/>
              <a:chOff x="628650" y="676782"/>
              <a:chExt cx="204788" cy="6083142"/>
            </a:xfrm>
          </p:grpSpPr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E260C3D6-0F06-0C88-8235-69E4BEB9306B}"/>
                  </a:ext>
                </a:extLst>
              </p:cNvPr>
              <p:cNvCxnSpPr/>
              <p:nvPr/>
            </p:nvCxnSpPr>
            <p:spPr>
              <a:xfrm>
                <a:off x="816293" y="676782"/>
                <a:ext cx="12381" cy="6083142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21F2EB3F-AB54-7426-B118-4E259AE26175}"/>
                  </a:ext>
                </a:extLst>
              </p:cNvPr>
              <p:cNvCxnSpPr/>
              <p:nvPr/>
            </p:nvCxnSpPr>
            <p:spPr>
              <a:xfrm>
                <a:off x="633413" y="683418"/>
                <a:ext cx="18288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7BD84D66-DF69-8B80-FA0E-0EA8A49D5075}"/>
                  </a:ext>
                </a:extLst>
              </p:cNvPr>
              <p:cNvCxnSpPr/>
              <p:nvPr/>
            </p:nvCxnSpPr>
            <p:spPr>
              <a:xfrm>
                <a:off x="633413" y="1630054"/>
                <a:ext cx="18288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A1CF2CCF-AAB2-7B1C-DC71-097D84FD272F}"/>
                  </a:ext>
                </a:extLst>
              </p:cNvPr>
              <p:cNvCxnSpPr/>
              <p:nvPr/>
            </p:nvCxnSpPr>
            <p:spPr>
              <a:xfrm>
                <a:off x="628650" y="4492159"/>
                <a:ext cx="18288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CBBBE5CA-5AD9-0DD8-0141-5855480BB574}"/>
                  </a:ext>
                </a:extLst>
              </p:cNvPr>
              <p:cNvCxnSpPr/>
              <p:nvPr/>
            </p:nvCxnSpPr>
            <p:spPr>
              <a:xfrm>
                <a:off x="633413" y="2584627"/>
                <a:ext cx="18288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DD4B1B47-4D5F-1BC3-C4C7-2178593DD344}"/>
                  </a:ext>
                </a:extLst>
              </p:cNvPr>
              <p:cNvCxnSpPr/>
              <p:nvPr/>
            </p:nvCxnSpPr>
            <p:spPr>
              <a:xfrm>
                <a:off x="633413" y="3533390"/>
                <a:ext cx="18288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F284FA0A-B58F-E533-5771-52972C1C4813}"/>
                  </a:ext>
                </a:extLst>
              </p:cNvPr>
              <p:cNvCxnSpPr/>
              <p:nvPr/>
            </p:nvCxnSpPr>
            <p:spPr>
              <a:xfrm>
                <a:off x="630238" y="6418178"/>
                <a:ext cx="18288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F88B9D93-84A3-C39E-17B2-7286034E9E02}"/>
                  </a:ext>
                </a:extLst>
              </p:cNvPr>
              <p:cNvCxnSpPr/>
              <p:nvPr/>
            </p:nvCxnSpPr>
            <p:spPr>
              <a:xfrm>
                <a:off x="635318" y="5441179"/>
                <a:ext cx="18288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CBB0FDA1-F6C7-0B5F-EF2E-2EECAEB267D2}"/>
                  </a:ext>
                </a:extLst>
              </p:cNvPr>
              <p:cNvCxnSpPr/>
              <p:nvPr/>
            </p:nvCxnSpPr>
            <p:spPr>
              <a:xfrm>
                <a:off x="681038" y="1148105"/>
                <a:ext cx="13716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76B3F2D9-C678-29C6-A637-9C01BBCFEDBD}"/>
                  </a:ext>
                </a:extLst>
              </p:cNvPr>
              <p:cNvCxnSpPr/>
              <p:nvPr/>
            </p:nvCxnSpPr>
            <p:spPr>
              <a:xfrm>
                <a:off x="691514" y="2125105"/>
                <a:ext cx="13716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9E681B2D-DFB3-6823-BF68-457587B1059D}"/>
                  </a:ext>
                </a:extLst>
              </p:cNvPr>
              <p:cNvCxnSpPr/>
              <p:nvPr/>
            </p:nvCxnSpPr>
            <p:spPr>
              <a:xfrm>
                <a:off x="681038" y="3999493"/>
                <a:ext cx="13716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D20F4102-599C-3BA3-D330-A04B28682C7E}"/>
                  </a:ext>
                </a:extLst>
              </p:cNvPr>
              <p:cNvCxnSpPr/>
              <p:nvPr/>
            </p:nvCxnSpPr>
            <p:spPr>
              <a:xfrm>
                <a:off x="688658" y="3049030"/>
                <a:ext cx="13716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FF2B5EF4-FFF2-40B4-BE49-F238E27FC236}">
                    <a16:creationId xmlns:a16="http://schemas.microsoft.com/office/drawing/2014/main" id="{6749C5CA-B7B2-786F-D56C-C6217A69EC94}"/>
                  </a:ext>
                </a:extLst>
              </p:cNvPr>
              <p:cNvCxnSpPr/>
              <p:nvPr/>
            </p:nvCxnSpPr>
            <p:spPr>
              <a:xfrm>
                <a:off x="681038" y="4961186"/>
                <a:ext cx="13716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2D7A2BE3-20D6-64F2-ACE8-71B3FE05075B}"/>
                  </a:ext>
                </a:extLst>
              </p:cNvPr>
              <p:cNvCxnSpPr/>
              <p:nvPr/>
            </p:nvCxnSpPr>
            <p:spPr>
              <a:xfrm>
                <a:off x="681038" y="5938185"/>
                <a:ext cx="13716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6DAC3F01-6927-4FAB-B721-00177EF199FB}"/>
                  </a:ext>
                </a:extLst>
              </p:cNvPr>
              <p:cNvCxnSpPr/>
              <p:nvPr/>
            </p:nvCxnSpPr>
            <p:spPr>
              <a:xfrm>
                <a:off x="696278" y="6754195"/>
                <a:ext cx="13716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B89469A-DC41-BB9E-36FF-A3BDCE807B4B}"/>
                </a:ext>
              </a:extLst>
            </p:cNvPr>
            <p:cNvSpPr txBox="1"/>
            <p:nvPr/>
          </p:nvSpPr>
          <p:spPr>
            <a:xfrm>
              <a:off x="385568" y="6015257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C1CBAFE-1698-AB6C-5099-2E2E777C9820}"/>
                </a:ext>
              </a:extLst>
            </p:cNvPr>
            <p:cNvSpPr txBox="1"/>
            <p:nvPr/>
          </p:nvSpPr>
          <p:spPr>
            <a:xfrm>
              <a:off x="287930" y="2368252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20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AAB7CBC-A7F4-EB11-4CCD-55C011464483}"/>
                </a:ext>
              </a:extLst>
            </p:cNvPr>
            <p:cNvSpPr txBox="1"/>
            <p:nvPr/>
          </p:nvSpPr>
          <p:spPr>
            <a:xfrm>
              <a:off x="338324" y="5109192"/>
              <a:ext cx="27443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6300F719-8EFF-576F-2E63-4F280A7AF6BF}"/>
                </a:ext>
              </a:extLst>
            </p:cNvPr>
            <p:cNvSpPr txBox="1"/>
            <p:nvPr/>
          </p:nvSpPr>
          <p:spPr>
            <a:xfrm>
              <a:off x="304893" y="4182325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338948EC-5285-A168-C2CC-3CF7737B13FA}"/>
                </a:ext>
              </a:extLst>
            </p:cNvPr>
            <p:cNvSpPr txBox="1"/>
            <p:nvPr/>
          </p:nvSpPr>
          <p:spPr>
            <a:xfrm>
              <a:off x="304893" y="1453555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25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59C3ED0D-13DF-915E-CC3F-C858FDC492B2}"/>
                </a:ext>
              </a:extLst>
            </p:cNvPr>
            <p:cNvSpPr txBox="1"/>
            <p:nvPr/>
          </p:nvSpPr>
          <p:spPr>
            <a:xfrm>
              <a:off x="292137" y="3255458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15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FDECDD7D-CBE0-CED2-E098-681349F6F050}"/>
                </a:ext>
              </a:extLst>
            </p:cNvPr>
            <p:cNvSpPr txBox="1"/>
            <p:nvPr/>
          </p:nvSpPr>
          <p:spPr>
            <a:xfrm>
              <a:off x="288061" y="524416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30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3BF7E29-8111-3413-36B0-FFC589082537}"/>
              </a:ext>
            </a:extLst>
          </p:cNvPr>
          <p:cNvGrpSpPr/>
          <p:nvPr/>
        </p:nvGrpSpPr>
        <p:grpSpPr>
          <a:xfrm>
            <a:off x="3961862" y="4254441"/>
            <a:ext cx="1828800" cy="1943278"/>
            <a:chOff x="1524000" y="4231310"/>
            <a:chExt cx="1828800" cy="1943278"/>
          </a:xfrm>
        </p:grpSpPr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7099CFD-2334-214F-1A8F-4262517E3E97}"/>
                </a:ext>
              </a:extLst>
            </p:cNvPr>
            <p:cNvCxnSpPr/>
            <p:nvPr/>
          </p:nvCxnSpPr>
          <p:spPr>
            <a:xfrm>
              <a:off x="1524000" y="6174588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C210387A-E51A-E229-CB77-F0F8B2F0CB08}"/>
                </a:ext>
              </a:extLst>
            </p:cNvPr>
            <p:cNvCxnSpPr/>
            <p:nvPr/>
          </p:nvCxnSpPr>
          <p:spPr>
            <a:xfrm>
              <a:off x="1524000" y="4231310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E65930D-8200-B12C-94EE-374AD3268A8F}"/>
              </a:ext>
            </a:extLst>
          </p:cNvPr>
          <p:cNvGrpSpPr/>
          <p:nvPr/>
        </p:nvGrpSpPr>
        <p:grpSpPr>
          <a:xfrm>
            <a:off x="6272550" y="1024595"/>
            <a:ext cx="2266982" cy="5184911"/>
            <a:chOff x="4753429" y="996030"/>
            <a:chExt cx="1828800" cy="5184911"/>
          </a:xfrm>
        </p:grpSpPr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0471CB-A5DD-B18E-3DEE-AFBDDF597471}"/>
                </a:ext>
              </a:extLst>
            </p:cNvPr>
            <p:cNvCxnSpPr/>
            <p:nvPr/>
          </p:nvCxnSpPr>
          <p:spPr>
            <a:xfrm>
              <a:off x="4753429" y="6180941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6ABB9FE8-79DD-911E-C39B-4AADA8631C5D}"/>
                </a:ext>
              </a:extLst>
            </p:cNvPr>
            <p:cNvCxnSpPr/>
            <p:nvPr/>
          </p:nvCxnSpPr>
          <p:spPr>
            <a:xfrm>
              <a:off x="4753429" y="4258528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32C35814-4945-29EB-00B0-9D0405426408}"/>
                </a:ext>
              </a:extLst>
            </p:cNvPr>
            <p:cNvCxnSpPr/>
            <p:nvPr/>
          </p:nvCxnSpPr>
          <p:spPr>
            <a:xfrm>
              <a:off x="4753429" y="4850601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8FF5B75E-1D72-BF4C-74F3-C31FD8BFD46E}"/>
                </a:ext>
              </a:extLst>
            </p:cNvPr>
            <p:cNvCxnSpPr/>
            <p:nvPr/>
          </p:nvCxnSpPr>
          <p:spPr>
            <a:xfrm>
              <a:off x="4753429" y="2694805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9A203B54-CB5D-F5DE-E087-AB5E5154527A}"/>
                </a:ext>
              </a:extLst>
            </p:cNvPr>
            <p:cNvCxnSpPr/>
            <p:nvPr/>
          </p:nvCxnSpPr>
          <p:spPr>
            <a:xfrm>
              <a:off x="4753429" y="3475787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8562A0C3-0023-8778-82A0-8E982B1B7CE8}"/>
                </a:ext>
              </a:extLst>
            </p:cNvPr>
            <p:cNvCxnSpPr/>
            <p:nvPr/>
          </p:nvCxnSpPr>
          <p:spPr>
            <a:xfrm>
              <a:off x="4753429" y="3968417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A8577E53-FEE1-A259-F05D-A8E5EC2B2E7E}"/>
                </a:ext>
              </a:extLst>
            </p:cNvPr>
            <p:cNvCxnSpPr/>
            <p:nvPr/>
          </p:nvCxnSpPr>
          <p:spPr>
            <a:xfrm>
              <a:off x="4753429" y="1656428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B4055E0F-001C-A152-941B-F2C6862725A8}"/>
                </a:ext>
              </a:extLst>
            </p:cNvPr>
            <p:cNvCxnSpPr/>
            <p:nvPr/>
          </p:nvCxnSpPr>
          <p:spPr>
            <a:xfrm>
              <a:off x="4753429" y="2884668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C3D43300-D544-EA23-885E-BC836B4DFBA5}"/>
                </a:ext>
              </a:extLst>
            </p:cNvPr>
            <p:cNvCxnSpPr/>
            <p:nvPr/>
          </p:nvCxnSpPr>
          <p:spPr>
            <a:xfrm>
              <a:off x="4753429" y="1926429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95CFD796-105E-24EB-64A3-EACF24DF6602}"/>
                </a:ext>
              </a:extLst>
            </p:cNvPr>
            <p:cNvCxnSpPr/>
            <p:nvPr/>
          </p:nvCxnSpPr>
          <p:spPr>
            <a:xfrm>
              <a:off x="4753429" y="2436615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D8AA499-5875-4C6F-44EE-F139C5E1FF47}"/>
                </a:ext>
              </a:extLst>
            </p:cNvPr>
            <p:cNvCxnSpPr/>
            <p:nvPr/>
          </p:nvCxnSpPr>
          <p:spPr>
            <a:xfrm>
              <a:off x="4753429" y="996030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E052A176-E93B-8424-B81F-BA2D8FC5A732}"/>
              </a:ext>
            </a:extLst>
          </p:cNvPr>
          <p:cNvSpPr txBox="1"/>
          <p:nvPr/>
        </p:nvSpPr>
        <p:spPr>
          <a:xfrm rot="16200000">
            <a:off x="1615893" y="3176107"/>
            <a:ext cx="27061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Energy (x 10</a:t>
            </a:r>
            <a:r>
              <a:rPr lang="en-US" sz="24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cm</a:t>
            </a:r>
            <a:r>
              <a:rPr lang="en-US" sz="24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D3CCB9-91CC-72FE-23F7-5B777E582649}"/>
              </a:ext>
            </a:extLst>
          </p:cNvPr>
          <p:cNvSpPr txBox="1"/>
          <p:nvPr/>
        </p:nvSpPr>
        <p:spPr>
          <a:xfrm>
            <a:off x="8569654" y="5950493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15/2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518DBA-84AE-8AC2-2830-7B2379E60EF2}"/>
              </a:ext>
            </a:extLst>
          </p:cNvPr>
          <p:cNvSpPr txBox="1"/>
          <p:nvPr/>
        </p:nvSpPr>
        <p:spPr>
          <a:xfrm>
            <a:off x="8561666" y="4246922"/>
            <a:ext cx="6625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11/2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FFE971-938B-A242-6D2B-0DA911EC01A3}"/>
              </a:ext>
            </a:extLst>
          </p:cNvPr>
          <p:cNvSpPr txBox="1"/>
          <p:nvPr/>
        </p:nvSpPr>
        <p:spPr>
          <a:xfrm>
            <a:off x="8530707" y="4743103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13/2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0A9167-F6C3-86E6-6709-88EC48004650}"/>
              </a:ext>
            </a:extLst>
          </p:cNvPr>
          <p:cNvSpPr txBox="1"/>
          <p:nvPr/>
        </p:nvSpPr>
        <p:spPr>
          <a:xfrm>
            <a:off x="8422320" y="732550"/>
            <a:ext cx="7619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11/2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FED877-485E-C258-B2CA-279AB44A3925}"/>
              </a:ext>
            </a:extLst>
          </p:cNvPr>
          <p:cNvSpPr txBox="1"/>
          <p:nvPr/>
        </p:nvSpPr>
        <p:spPr>
          <a:xfrm>
            <a:off x="8516286" y="2735459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3/2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CFBE72-EB0F-4A9C-081B-091FFC1F23BB}"/>
              </a:ext>
            </a:extLst>
          </p:cNvPr>
          <p:cNvSpPr txBox="1"/>
          <p:nvPr/>
        </p:nvSpPr>
        <p:spPr>
          <a:xfrm>
            <a:off x="8381957" y="3155340"/>
            <a:ext cx="644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9/2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7CE0AA-BC06-60A5-2691-B703E212D4B0}"/>
              </a:ext>
            </a:extLst>
          </p:cNvPr>
          <p:cNvSpPr txBox="1"/>
          <p:nvPr/>
        </p:nvSpPr>
        <p:spPr>
          <a:xfrm>
            <a:off x="4452895" y="6365787"/>
            <a:ext cx="974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Yb</a:t>
            </a:r>
            <a:r>
              <a:rPr lang="en-US" sz="24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9508D46-9CC6-9EE0-5BD3-23D34934A0D3}"/>
              </a:ext>
            </a:extLst>
          </p:cNvPr>
          <p:cNvSpPr txBox="1"/>
          <p:nvPr/>
        </p:nvSpPr>
        <p:spPr>
          <a:xfrm>
            <a:off x="7328331" y="6382387"/>
            <a:ext cx="974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</a:t>
            </a:r>
            <a:r>
              <a:rPr lang="en-US" sz="24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8DDA99C-822F-E2D0-5CFF-D5133E08E567}"/>
              </a:ext>
            </a:extLst>
          </p:cNvPr>
          <p:cNvSpPr txBox="1"/>
          <p:nvPr/>
        </p:nvSpPr>
        <p:spPr>
          <a:xfrm>
            <a:off x="8573183" y="3750741"/>
            <a:ext cx="5870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9/2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6F3393-A101-1716-6F9E-961D7FAA1387}"/>
              </a:ext>
            </a:extLst>
          </p:cNvPr>
          <p:cNvSpPr txBox="1"/>
          <p:nvPr/>
        </p:nvSpPr>
        <p:spPr>
          <a:xfrm>
            <a:off x="8410060" y="2135634"/>
            <a:ext cx="644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7/2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A0FAC13-7F64-3BF2-A16A-09EADCCA2E2A}"/>
              </a:ext>
            </a:extLst>
          </p:cNvPr>
          <p:cNvSpPr txBox="1"/>
          <p:nvPr/>
        </p:nvSpPr>
        <p:spPr>
          <a:xfrm>
            <a:off x="8521955" y="2440197"/>
            <a:ext cx="7619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11/2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8728C71-679C-8EF5-7FF3-1D090A6CBB46}"/>
              </a:ext>
            </a:extLst>
          </p:cNvPr>
          <p:cNvSpPr txBox="1"/>
          <p:nvPr/>
        </p:nvSpPr>
        <p:spPr>
          <a:xfrm>
            <a:off x="8509071" y="1653733"/>
            <a:ext cx="644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3/2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C4CA8F-1FB3-F314-83A0-6EE125CB8F97}"/>
              </a:ext>
            </a:extLst>
          </p:cNvPr>
          <p:cNvSpPr txBox="1"/>
          <p:nvPr/>
        </p:nvSpPr>
        <p:spPr>
          <a:xfrm>
            <a:off x="8450721" y="1361546"/>
            <a:ext cx="6864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9/2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246D945-2C1C-42F8-7C1C-94445C91B0F5}"/>
              </a:ext>
            </a:extLst>
          </p:cNvPr>
          <p:cNvSpPr txBox="1"/>
          <p:nvPr/>
        </p:nvSpPr>
        <p:spPr>
          <a:xfrm>
            <a:off x="5619181" y="5900699"/>
            <a:ext cx="644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7/2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969F16-6A4B-5F8B-F746-C99C15A7B250}"/>
              </a:ext>
            </a:extLst>
          </p:cNvPr>
          <p:cNvSpPr txBox="1"/>
          <p:nvPr/>
        </p:nvSpPr>
        <p:spPr>
          <a:xfrm>
            <a:off x="5569069" y="4222135"/>
            <a:ext cx="644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5/2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EB34EB6-CA0E-5CD8-BE23-DD0BC5727D36}"/>
              </a:ext>
            </a:extLst>
          </p:cNvPr>
          <p:cNvCxnSpPr/>
          <p:nvPr/>
        </p:nvCxnSpPr>
        <p:spPr>
          <a:xfrm flipV="1">
            <a:off x="4754229" y="4263498"/>
            <a:ext cx="0" cy="1943278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B6E9197-9DDB-599B-8AC4-71B9CC0418EE}"/>
              </a:ext>
            </a:extLst>
          </p:cNvPr>
          <p:cNvCxnSpPr/>
          <p:nvPr/>
        </p:nvCxnSpPr>
        <p:spPr>
          <a:xfrm>
            <a:off x="5113293" y="4266225"/>
            <a:ext cx="0" cy="1943278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Arc 60">
            <a:extLst>
              <a:ext uri="{FF2B5EF4-FFF2-40B4-BE49-F238E27FC236}">
                <a16:creationId xmlns:a16="http://schemas.microsoft.com/office/drawing/2014/main" id="{2FA6D32C-6FD6-5C36-4660-BC669551EA00}"/>
              </a:ext>
            </a:extLst>
          </p:cNvPr>
          <p:cNvSpPr/>
          <p:nvPr/>
        </p:nvSpPr>
        <p:spPr>
          <a:xfrm rot="14329537">
            <a:off x="5534053" y="3230731"/>
            <a:ext cx="949867" cy="1259415"/>
          </a:xfrm>
          <a:prstGeom prst="arc">
            <a:avLst>
              <a:gd name="adj1" fmla="val 16116946"/>
              <a:gd name="adj2" fmla="val 5316624"/>
            </a:avLst>
          </a:prstGeom>
          <a:ln w="25400">
            <a:solidFill>
              <a:schemeClr val="tx1"/>
            </a:solidFill>
            <a:prstDash val="dash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2DD230F-0803-0F22-30F9-5072BFCF433E}"/>
              </a:ext>
            </a:extLst>
          </p:cNvPr>
          <p:cNvGrpSpPr/>
          <p:nvPr/>
        </p:nvGrpSpPr>
        <p:grpSpPr>
          <a:xfrm>
            <a:off x="5328790" y="1361548"/>
            <a:ext cx="1334182" cy="2904679"/>
            <a:chOff x="4946791" y="2230661"/>
            <a:chExt cx="1506559" cy="2000648"/>
          </a:xfrm>
        </p:grpSpPr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3C54E397-6D6A-9167-4ED7-313CA59B6873}"/>
                </a:ext>
              </a:extLst>
            </p:cNvPr>
            <p:cNvCxnSpPr>
              <a:cxnSpLocks/>
              <a:endCxn id="59" idx="0"/>
            </p:cNvCxnSpPr>
            <p:nvPr/>
          </p:nvCxnSpPr>
          <p:spPr>
            <a:xfrm flipV="1">
              <a:off x="4946791" y="2440873"/>
              <a:ext cx="28001" cy="1790436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Arc 58">
              <a:extLst>
                <a:ext uri="{FF2B5EF4-FFF2-40B4-BE49-F238E27FC236}">
                  <a16:creationId xmlns:a16="http://schemas.microsoft.com/office/drawing/2014/main" id="{A2859666-3FCB-9EDF-2D1F-C09716031CD8}"/>
                </a:ext>
              </a:extLst>
            </p:cNvPr>
            <p:cNvSpPr/>
            <p:nvPr/>
          </p:nvSpPr>
          <p:spPr>
            <a:xfrm rot="16200000">
              <a:off x="5514195" y="1690153"/>
              <a:ext cx="398648" cy="1479663"/>
            </a:xfrm>
            <a:prstGeom prst="arc">
              <a:avLst>
                <a:gd name="adj1" fmla="val 16116946"/>
                <a:gd name="adj2" fmla="val 5316624"/>
              </a:avLst>
            </a:prstGeom>
            <a:ln w="25400">
              <a:solidFill>
                <a:schemeClr val="tx1"/>
              </a:solidFill>
              <a:prstDash val="dash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Arc 28">
            <a:extLst>
              <a:ext uri="{FF2B5EF4-FFF2-40B4-BE49-F238E27FC236}">
                <a16:creationId xmlns:a16="http://schemas.microsoft.com/office/drawing/2014/main" id="{5A30CF11-C61D-E79E-CEB0-BC114C09103C}"/>
              </a:ext>
            </a:extLst>
          </p:cNvPr>
          <p:cNvSpPr/>
          <p:nvPr/>
        </p:nvSpPr>
        <p:spPr>
          <a:xfrm rot="16200000">
            <a:off x="5762934" y="3890956"/>
            <a:ext cx="496214" cy="786582"/>
          </a:xfrm>
          <a:prstGeom prst="arc">
            <a:avLst>
              <a:gd name="adj1" fmla="val 16486163"/>
              <a:gd name="adj2" fmla="val 5724375"/>
            </a:avLst>
          </a:prstGeom>
          <a:ln w="25400">
            <a:solidFill>
              <a:schemeClr val="tx1"/>
            </a:solidFill>
            <a:prstDash val="dash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D47C9E6-5FCD-4656-78C8-484FB1948697}"/>
              </a:ext>
            </a:extLst>
          </p:cNvPr>
          <p:cNvCxnSpPr>
            <a:cxnSpLocks/>
          </p:cNvCxnSpPr>
          <p:nvPr/>
        </p:nvCxnSpPr>
        <p:spPr>
          <a:xfrm flipV="1">
            <a:off x="6738662" y="2454070"/>
            <a:ext cx="0" cy="1858741"/>
          </a:xfrm>
          <a:prstGeom prst="straightConnector1">
            <a:avLst/>
          </a:prstGeom>
          <a:ln w="38100">
            <a:solidFill>
              <a:schemeClr val="tx1"/>
            </a:solidFill>
            <a:prstDash val="solid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3E2F3F8-8B77-425C-601C-5C494AFCA57F}"/>
              </a:ext>
            </a:extLst>
          </p:cNvPr>
          <p:cNvCxnSpPr/>
          <p:nvPr/>
        </p:nvCxnSpPr>
        <p:spPr>
          <a:xfrm flipV="1">
            <a:off x="6443048" y="4335469"/>
            <a:ext cx="0" cy="1839285"/>
          </a:xfrm>
          <a:prstGeom prst="straightConnector1">
            <a:avLst/>
          </a:prstGeom>
          <a:ln w="38100">
            <a:solidFill>
              <a:schemeClr val="tx1"/>
            </a:solidFill>
            <a:prstDash val="solid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39919D8-0A41-9BDD-E866-1CFC0AD44FAE}"/>
              </a:ext>
            </a:extLst>
          </p:cNvPr>
          <p:cNvCxnSpPr>
            <a:cxnSpLocks/>
          </p:cNvCxnSpPr>
          <p:nvPr/>
        </p:nvCxnSpPr>
        <p:spPr>
          <a:xfrm flipV="1">
            <a:off x="6900002" y="1684993"/>
            <a:ext cx="0" cy="1798599"/>
          </a:xfrm>
          <a:prstGeom prst="straightConnector1">
            <a:avLst/>
          </a:prstGeom>
          <a:ln w="38100">
            <a:solidFill>
              <a:schemeClr val="tx1"/>
            </a:solidFill>
            <a:prstDash val="solid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04B3C81-8787-EEBF-2E14-168044535C12}"/>
              </a:ext>
            </a:extLst>
          </p:cNvPr>
          <p:cNvCxnSpPr>
            <a:cxnSpLocks/>
          </p:cNvCxnSpPr>
          <p:nvPr/>
        </p:nvCxnSpPr>
        <p:spPr>
          <a:xfrm flipH="1">
            <a:off x="7335117" y="1684991"/>
            <a:ext cx="1353" cy="4563232"/>
          </a:xfrm>
          <a:prstGeom prst="straightConnector1">
            <a:avLst/>
          </a:prstGeom>
          <a:ln w="19050">
            <a:solidFill>
              <a:srgbClr val="0070C0"/>
            </a:solidFill>
            <a:prstDash val="solid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F72BCB5-6B81-DE57-212E-FB1E6C27AD3F}"/>
              </a:ext>
            </a:extLst>
          </p:cNvPr>
          <p:cNvCxnSpPr>
            <a:cxnSpLocks/>
          </p:cNvCxnSpPr>
          <p:nvPr/>
        </p:nvCxnSpPr>
        <p:spPr>
          <a:xfrm flipH="1">
            <a:off x="7453905" y="2906016"/>
            <a:ext cx="35283" cy="3339808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244E03A-A291-DF17-EFB7-01E16DF2D1C6}"/>
              </a:ext>
            </a:extLst>
          </p:cNvPr>
          <p:cNvSpPr txBox="1"/>
          <p:nvPr/>
        </p:nvSpPr>
        <p:spPr>
          <a:xfrm rot="16200000">
            <a:off x="7083098" y="5206814"/>
            <a:ext cx="10595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560 nm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D18B17C-8B69-1BEC-C7AF-145D971FDD7A}"/>
              </a:ext>
            </a:extLst>
          </p:cNvPr>
          <p:cNvSpPr txBox="1"/>
          <p:nvPr/>
        </p:nvSpPr>
        <p:spPr>
          <a:xfrm rot="16200000">
            <a:off x="6629099" y="5417375"/>
            <a:ext cx="1046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412 nm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C28CE82-8835-2276-C3EB-D74D600F1575}"/>
              </a:ext>
            </a:extLst>
          </p:cNvPr>
          <p:cNvSpPr txBox="1"/>
          <p:nvPr/>
        </p:nvSpPr>
        <p:spPr>
          <a:xfrm rot="16200000">
            <a:off x="4591314" y="5129908"/>
            <a:ext cx="6062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GSA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C4050A-5C39-86CB-AA1C-B40753FCFF51}"/>
              </a:ext>
            </a:extLst>
          </p:cNvPr>
          <p:cNvSpPr txBox="1"/>
          <p:nvPr/>
        </p:nvSpPr>
        <p:spPr>
          <a:xfrm rot="16200000">
            <a:off x="6233962" y="2957110"/>
            <a:ext cx="615670" cy="3375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ESA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700F4B6-B6C5-7490-1F01-0974F010618A}"/>
              </a:ext>
            </a:extLst>
          </p:cNvPr>
          <p:cNvSpPr txBox="1"/>
          <p:nvPr/>
        </p:nvSpPr>
        <p:spPr>
          <a:xfrm>
            <a:off x="5694331" y="2456085"/>
            <a:ext cx="4571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</a:t>
            </a:r>
          </a:p>
        </p:txBody>
      </p:sp>
      <p:sp>
        <p:nvSpPr>
          <p:cNvPr id="40" name="Lightning Bolt 39">
            <a:extLst>
              <a:ext uri="{FF2B5EF4-FFF2-40B4-BE49-F238E27FC236}">
                <a16:creationId xmlns:a16="http://schemas.microsoft.com/office/drawing/2014/main" id="{83F073E8-F171-675E-BD15-4D460C156C76}"/>
              </a:ext>
            </a:extLst>
          </p:cNvPr>
          <p:cNvSpPr/>
          <p:nvPr/>
        </p:nvSpPr>
        <p:spPr>
          <a:xfrm rot="20590028">
            <a:off x="3996962" y="5159435"/>
            <a:ext cx="524282" cy="933750"/>
          </a:xfrm>
          <a:prstGeom prst="lightningBol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6A5F9B0-3ED5-5EFF-DB6D-A398E9F63461}"/>
              </a:ext>
            </a:extLst>
          </p:cNvPr>
          <p:cNvSpPr txBox="1"/>
          <p:nvPr/>
        </p:nvSpPr>
        <p:spPr>
          <a:xfrm>
            <a:off x="3734128" y="4703418"/>
            <a:ext cx="9893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975 nm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F6B0777-B1B0-55A4-EDB6-335170DF81B8}"/>
              </a:ext>
            </a:extLst>
          </p:cNvPr>
          <p:cNvSpPr/>
          <p:nvPr/>
        </p:nvSpPr>
        <p:spPr>
          <a:xfrm>
            <a:off x="1251392" y="229179"/>
            <a:ext cx="10354235" cy="67015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1F295-4652-FC2C-8B95-F02842DF5FF5}"/>
              </a:ext>
            </a:extLst>
          </p:cNvPr>
          <p:cNvCxnSpPr>
            <a:cxnSpLocks/>
          </p:cNvCxnSpPr>
          <p:nvPr/>
        </p:nvCxnSpPr>
        <p:spPr>
          <a:xfrm flipH="1">
            <a:off x="8370262" y="3504350"/>
            <a:ext cx="22722" cy="2715826"/>
          </a:xfrm>
          <a:prstGeom prst="straightConnector1">
            <a:avLst/>
          </a:prstGeom>
          <a:ln w="38100">
            <a:solidFill>
              <a:srgbClr val="FF0000"/>
            </a:solidFill>
            <a:prstDash val="solid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8B06E63-779D-F8C9-0543-369ED99CEE41}"/>
              </a:ext>
            </a:extLst>
          </p:cNvPr>
          <p:cNvSpPr txBox="1"/>
          <p:nvPr/>
        </p:nvSpPr>
        <p:spPr>
          <a:xfrm rot="16200000">
            <a:off x="7691151" y="5222203"/>
            <a:ext cx="1059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660 nm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716764B-7556-E58F-19BA-A082D6F60E96}"/>
              </a:ext>
            </a:extLst>
          </p:cNvPr>
          <p:cNvSpPr txBox="1"/>
          <p:nvPr/>
        </p:nvSpPr>
        <p:spPr>
          <a:xfrm rot="16200000">
            <a:off x="6584910" y="4382953"/>
            <a:ext cx="4796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NR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546B25CE-60BF-B97E-C130-ED4C9D768C7A}"/>
              </a:ext>
            </a:extLst>
          </p:cNvPr>
          <p:cNvCxnSpPr>
            <a:cxnSpLocks/>
          </p:cNvCxnSpPr>
          <p:nvPr/>
        </p:nvCxnSpPr>
        <p:spPr>
          <a:xfrm flipV="1">
            <a:off x="7015384" y="3483590"/>
            <a:ext cx="7474" cy="1381810"/>
          </a:xfrm>
          <a:prstGeom prst="straightConnector1">
            <a:avLst/>
          </a:prstGeom>
          <a:ln w="38100">
            <a:solidFill>
              <a:schemeClr val="tx1"/>
            </a:solidFill>
            <a:prstDash val="solid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A1544D3A-2394-E573-57C8-8D29D02375D2}"/>
              </a:ext>
            </a:extLst>
          </p:cNvPr>
          <p:cNvCxnSpPr>
            <a:cxnSpLocks/>
          </p:cNvCxnSpPr>
          <p:nvPr/>
        </p:nvCxnSpPr>
        <p:spPr>
          <a:xfrm>
            <a:off x="6649870" y="4321846"/>
            <a:ext cx="0" cy="535855"/>
          </a:xfrm>
          <a:prstGeom prst="straightConnector1">
            <a:avLst/>
          </a:prstGeom>
          <a:ln w="381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5512BD2-098A-B62E-2201-8C7B3EB0CD59}"/>
              </a:ext>
            </a:extLst>
          </p:cNvPr>
          <p:cNvCxnSpPr>
            <a:cxnSpLocks/>
          </p:cNvCxnSpPr>
          <p:nvPr/>
        </p:nvCxnSpPr>
        <p:spPr>
          <a:xfrm>
            <a:off x="7034526" y="2477299"/>
            <a:ext cx="0" cy="428719"/>
          </a:xfrm>
          <a:prstGeom prst="straightConnector1">
            <a:avLst/>
          </a:prstGeom>
          <a:ln w="381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0280F11-F500-1CDA-1092-FBFCDBD41DE6}"/>
              </a:ext>
            </a:extLst>
          </p:cNvPr>
          <p:cNvCxnSpPr>
            <a:cxnSpLocks/>
          </p:cNvCxnSpPr>
          <p:nvPr/>
        </p:nvCxnSpPr>
        <p:spPr>
          <a:xfrm>
            <a:off x="7214553" y="2941069"/>
            <a:ext cx="0" cy="581308"/>
          </a:xfrm>
          <a:prstGeom prst="straightConnector1">
            <a:avLst/>
          </a:prstGeom>
          <a:ln w="381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8FAE2347-F676-07EE-EEC6-46AA58872814}"/>
              </a:ext>
            </a:extLst>
          </p:cNvPr>
          <p:cNvCxnSpPr>
            <a:cxnSpLocks/>
          </p:cNvCxnSpPr>
          <p:nvPr/>
        </p:nvCxnSpPr>
        <p:spPr>
          <a:xfrm>
            <a:off x="7640628" y="2535746"/>
            <a:ext cx="561748" cy="927885"/>
          </a:xfrm>
          <a:prstGeom prst="straightConnector1">
            <a:avLst/>
          </a:prstGeom>
          <a:ln w="28575">
            <a:solidFill>
              <a:srgbClr val="00206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DB39893A-26D8-8870-8955-E0F12935C1BD}"/>
              </a:ext>
            </a:extLst>
          </p:cNvPr>
          <p:cNvCxnSpPr>
            <a:cxnSpLocks/>
          </p:cNvCxnSpPr>
          <p:nvPr/>
        </p:nvCxnSpPr>
        <p:spPr>
          <a:xfrm>
            <a:off x="8202376" y="3501739"/>
            <a:ext cx="7338" cy="782509"/>
          </a:xfrm>
          <a:prstGeom prst="line">
            <a:avLst/>
          </a:prstGeom>
          <a:ln w="28575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6DB6D03-BBB3-83A1-3A68-9A6116D1D12E}"/>
              </a:ext>
            </a:extLst>
          </p:cNvPr>
          <p:cNvCxnSpPr>
            <a:cxnSpLocks/>
          </p:cNvCxnSpPr>
          <p:nvPr/>
        </p:nvCxnSpPr>
        <p:spPr>
          <a:xfrm flipH="1" flipV="1">
            <a:off x="7619741" y="3522379"/>
            <a:ext cx="559971" cy="724545"/>
          </a:xfrm>
          <a:prstGeom prst="straightConnector1">
            <a:avLst/>
          </a:prstGeom>
          <a:ln w="28575">
            <a:solidFill>
              <a:srgbClr val="00206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9C01DA83-A1D2-39A1-4F0B-C74E3A438105}"/>
              </a:ext>
            </a:extLst>
          </p:cNvPr>
          <p:cNvCxnSpPr>
            <a:cxnSpLocks/>
          </p:cNvCxnSpPr>
          <p:nvPr/>
        </p:nvCxnSpPr>
        <p:spPr>
          <a:xfrm>
            <a:off x="7619739" y="2496588"/>
            <a:ext cx="24558" cy="963985"/>
          </a:xfrm>
          <a:prstGeom prst="line">
            <a:avLst/>
          </a:prstGeom>
          <a:ln w="28575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15385143-A599-3C8B-2D8D-895E112E9D79}"/>
              </a:ext>
            </a:extLst>
          </p:cNvPr>
          <p:cNvSpPr txBox="1"/>
          <p:nvPr/>
        </p:nvSpPr>
        <p:spPr>
          <a:xfrm>
            <a:off x="7671419" y="3180220"/>
            <a:ext cx="4796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</a:t>
            </a:r>
          </a:p>
        </p:txBody>
      </p:sp>
    </p:spTree>
    <p:extLst>
      <p:ext uri="{BB962C8B-B14F-4D97-AF65-F5344CB8AC3E}">
        <p14:creationId xmlns:p14="http://schemas.microsoft.com/office/powerpoint/2010/main" val="33926940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5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08" t="14737" r="9470" b="11754"/>
          <a:stretch/>
        </p:blipFill>
        <p:spPr>
          <a:xfrm>
            <a:off x="3113117" y="492902"/>
            <a:ext cx="3064134" cy="22643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9320" y="2670327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7345" y="2824211"/>
            <a:ext cx="213951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Wavelength (nm)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2609" y="55043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2609" y="88821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2606" y="122598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2606" y="157184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8626" y="223708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5k</a:t>
            </a:r>
          </a:p>
        </p:txBody>
      </p:sp>
      <p:sp>
        <p:nvSpPr>
          <p:cNvPr id="17" name="TextBox 16"/>
          <p:cNvSpPr txBox="1"/>
          <p:nvPr/>
        </p:nvSpPr>
        <p:spPr>
          <a:xfrm rot="16200000">
            <a:off x="1793263" y="1321950"/>
            <a:ext cx="18367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 (arb. unit)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3254751" y="682506"/>
            <a:ext cx="211328" cy="0"/>
          </a:xfrm>
          <a:prstGeom prst="line">
            <a:avLst/>
          </a:prstGeom>
          <a:ln w="28575">
            <a:solidFill>
              <a:srgbClr val="1F77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831813" y="136494"/>
            <a:ext cx="5048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2606" y="1895433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10k</a:t>
            </a:r>
          </a:p>
        </p:txBody>
      </p:sp>
      <p:cxnSp>
        <p:nvCxnSpPr>
          <p:cNvPr id="21" name="Straight Connector 20"/>
          <p:cNvCxnSpPr/>
          <p:nvPr/>
        </p:nvCxnSpPr>
        <p:spPr>
          <a:xfrm>
            <a:off x="3254751" y="891419"/>
            <a:ext cx="211328" cy="0"/>
          </a:xfrm>
          <a:prstGeom prst="line">
            <a:avLst/>
          </a:prstGeom>
          <a:ln w="28575">
            <a:solidFill>
              <a:srgbClr val="FF7E0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424853" y="497145"/>
            <a:ext cx="17441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NaBiF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Er</a:t>
            </a:r>
            <a:r>
              <a:rPr lang="en-IN" sz="16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Yb</a:t>
            </a:r>
            <a:r>
              <a:rPr lang="en-IN" sz="16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4853" y="718931"/>
            <a:ext cx="17441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NaYF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Er</a:t>
            </a:r>
            <a:r>
              <a:rPr lang="en-IN" sz="16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Yb</a:t>
            </a:r>
            <a:r>
              <a:rPr lang="en-IN" sz="16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17431" y="2670326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65542" y="2670325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3653" y="2675785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59040" y="2673832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4427" y="2670325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48105" y="2674135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/>
              <p:cNvSpPr txBox="1"/>
              <p:nvPr/>
            </p:nvSpPr>
            <p:spPr>
              <a:xfrm>
                <a:off x="5516865" y="4748972"/>
                <a:ext cx="2139515" cy="7711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IN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IN" sz="1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en-IN" sz="1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IN" sz="1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𝐵𝑖</m:t>
                            </m:r>
                          </m:sub>
                          <m:sup>
                            <m:r>
                              <a:rPr lang="en-IN" sz="1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𝑛𝑜𝑟𝑚</m:t>
                            </m:r>
                          </m:sup>
                        </m:sSubSup>
                      </m:num>
                      <m:den>
                        <m:sSubSup>
                          <m:sSubSupPr>
                            <m:ctrlPr>
                              <a:rPr lang="en-IN" sz="1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en-IN" sz="1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IN" sz="1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𝑌</m:t>
                            </m:r>
                          </m:sub>
                          <m:sup>
                            <m:r>
                              <a:rPr lang="en-IN" sz="1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𝑛𝑜𝑟𝑚</m:t>
                            </m:r>
                          </m:sup>
                        </m:sSubSup>
                      </m:den>
                    </m:f>
                    <m:r>
                      <a:rPr lang="en-IN" sz="1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I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3.803 ± 0.005 </a:t>
                </a:r>
              </a:p>
              <a:p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6865" y="4748972"/>
                <a:ext cx="2139515" cy="7711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/>
          <p:cNvSpPr/>
          <p:nvPr/>
        </p:nvSpPr>
        <p:spPr>
          <a:xfrm>
            <a:off x="5523659" y="4734633"/>
            <a:ext cx="1907486" cy="526876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5" name="TextBox 34"/>
          <p:cNvSpPr txBox="1"/>
          <p:nvPr/>
        </p:nvSpPr>
        <p:spPr>
          <a:xfrm>
            <a:off x="7051304" y="2842684"/>
            <a:ext cx="5778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Yb</a:t>
            </a:r>
            <a:r>
              <a:rPr lang="en-IN" sz="16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09375" y="2842684"/>
            <a:ext cx="5778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</a:t>
            </a:r>
            <a:r>
              <a:rPr lang="en-IN" sz="16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</a:p>
        </p:txBody>
      </p:sp>
      <p:sp>
        <p:nvSpPr>
          <p:cNvPr id="38" name="TextBox 37"/>
          <p:cNvSpPr txBox="1"/>
          <p:nvPr/>
        </p:nvSpPr>
        <p:spPr>
          <a:xfrm rot="16200000">
            <a:off x="5355630" y="1484444"/>
            <a:ext cx="1946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Energy (x 10</a:t>
            </a:r>
            <a:r>
              <a:rPr lang="en-IN" sz="16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cm</a:t>
            </a:r>
            <a:r>
              <a:rPr lang="en-IN" sz="16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23901" y="515618"/>
            <a:ext cx="160020" cy="23588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2" name="TextBox 41"/>
          <p:cNvSpPr txBox="1"/>
          <p:nvPr/>
        </p:nvSpPr>
        <p:spPr>
          <a:xfrm>
            <a:off x="6491835" y="2661078"/>
            <a:ext cx="366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00818" y="2217516"/>
            <a:ext cx="366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9665" y="1781726"/>
            <a:ext cx="366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5600" y="1336562"/>
            <a:ext cx="366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9665" y="895514"/>
            <a:ext cx="366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14239" y="448555"/>
            <a:ext cx="366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31" t="15048" r="7633" b="7867"/>
          <a:stretch/>
        </p:blipFill>
        <p:spPr>
          <a:xfrm>
            <a:off x="6704496" y="443350"/>
            <a:ext cx="2743200" cy="2445603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5252582" y="3681138"/>
            <a:ext cx="3560857" cy="2880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0" name="TextBox 49"/>
          <p:cNvSpPr txBox="1"/>
          <p:nvPr/>
        </p:nvSpPr>
        <p:spPr>
          <a:xfrm rot="16200000">
            <a:off x="2574821" y="1483071"/>
            <a:ext cx="14156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Absorbance (arb. unit)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07509" y="2265721"/>
            <a:ext cx="11895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Wavelength (nm)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571139" y="1169242"/>
            <a:ext cx="678053" cy="18921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3" name="TextBox 52"/>
          <p:cNvSpPr txBox="1"/>
          <p:nvPr/>
        </p:nvSpPr>
        <p:spPr>
          <a:xfrm>
            <a:off x="6775376" y="4118028"/>
            <a:ext cx="15284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NaYF</a:t>
            </a:r>
            <a:r>
              <a:rPr lang="en-IN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Er</a:t>
            </a:r>
            <a:r>
              <a:rPr lang="en-IN" sz="1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Yb</a:t>
            </a:r>
            <a:r>
              <a:rPr lang="en-IN" sz="1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67588" y="3929305"/>
            <a:ext cx="16197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NaBiF</a:t>
            </a:r>
            <a:r>
              <a:rPr lang="en-IN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Er</a:t>
            </a:r>
            <a:r>
              <a:rPr lang="en-IN" sz="1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Yb</a:t>
            </a:r>
            <a:r>
              <a:rPr lang="en-IN" sz="1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33400" y="3648938"/>
            <a:ext cx="469721" cy="376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08241" y="983459"/>
            <a:ext cx="36139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56407" y="1263018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20701" y="1541624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54979" y="1820231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96502" y="2084549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96502" y="2172179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09862" y="2168369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846082" y="2172179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086112" y="2172179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18522" y="2168369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28072" y="2168369"/>
            <a:ext cx="4161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1000</a:t>
            </a:r>
          </a:p>
        </p:txBody>
      </p:sp>
      <p:pic>
        <p:nvPicPr>
          <p:cNvPr id="72" name="Picture 71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33" t="7139" r="5662" b="11855"/>
          <a:stretch/>
        </p:blipFill>
        <p:spPr>
          <a:xfrm>
            <a:off x="3551676" y="1088164"/>
            <a:ext cx="1423367" cy="113823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581051" y="1131024"/>
            <a:ext cx="609600" cy="18669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9" name="TextBox 38"/>
          <p:cNvSpPr txBox="1"/>
          <p:nvPr/>
        </p:nvSpPr>
        <p:spPr>
          <a:xfrm>
            <a:off x="9057904" y="143301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5726014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26" t="7225" r="5771" b="5319"/>
          <a:stretch/>
        </p:blipFill>
        <p:spPr>
          <a:xfrm>
            <a:off x="1329468" y="3331428"/>
            <a:ext cx="3318116" cy="2476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 rot="16200000">
            <a:off x="-88677" y="1766782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8075" y="3447252"/>
            <a:ext cx="1182624" cy="3657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3" name="Straight Connector 12"/>
          <p:cNvCxnSpPr/>
          <p:nvPr/>
        </p:nvCxnSpPr>
        <p:spPr>
          <a:xfrm>
            <a:off x="2807629" y="3532596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2819313" y="3749747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997618" y="3378709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9674" y="3595860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90487" y="3331428"/>
            <a:ext cx="224790" cy="23606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TextBox 25"/>
          <p:cNvSpPr txBox="1"/>
          <p:nvPr/>
        </p:nvSpPr>
        <p:spPr>
          <a:xfrm>
            <a:off x="1339644" y="5401249"/>
            <a:ext cx="2013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60117" y="5058069"/>
            <a:ext cx="4088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0343" y="4711219"/>
            <a:ext cx="4088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60117" y="4349796"/>
            <a:ext cx="4088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63818" y="3995008"/>
            <a:ext cx="368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2666" y="3649667"/>
            <a:ext cx="486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2666" y="3284029"/>
            <a:ext cx="502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407483" y="5655556"/>
            <a:ext cx="2837074" cy="1524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9" name="TextBox 48"/>
          <p:cNvSpPr txBox="1"/>
          <p:nvPr/>
        </p:nvSpPr>
        <p:spPr>
          <a:xfrm>
            <a:off x="1412338" y="5543435"/>
            <a:ext cx="196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54134" y="5538217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3522" y="5543434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170589" y="5543433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80523" y="5543432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99911" y="5542286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/>
              <p:cNvSpPr txBox="1"/>
              <p:nvPr/>
            </p:nvSpPr>
            <p:spPr>
              <a:xfrm>
                <a:off x="2818931" y="3888960"/>
                <a:ext cx="188137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1064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0.28 ± 0.01 ms</a:t>
                </a:r>
              </a:p>
            </p:txBody>
          </p:sp>
        </mc:Choice>
        <mc:Fallback xmlns="">
          <p:sp>
            <p:nvSpPr>
              <p:cNvPr id="63" name="TextBox 6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8931" y="3888960"/>
                <a:ext cx="1881376" cy="307777"/>
              </a:xfrm>
              <a:prstGeom prst="rect">
                <a:avLst/>
              </a:prstGeom>
              <a:blipFill>
                <a:blip r:embed="rId3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Rectangle 66"/>
          <p:cNvSpPr/>
          <p:nvPr/>
        </p:nvSpPr>
        <p:spPr>
          <a:xfrm>
            <a:off x="2824748" y="3888549"/>
            <a:ext cx="1740485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/>
          <p:cNvSpPr txBox="1"/>
          <p:nvPr/>
        </p:nvSpPr>
        <p:spPr>
          <a:xfrm>
            <a:off x="2475285" y="5745783"/>
            <a:ext cx="11734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1" t="7950" r="5728" b="5319"/>
          <a:stretch/>
        </p:blipFill>
        <p:spPr>
          <a:xfrm>
            <a:off x="1295662" y="816867"/>
            <a:ext cx="3359641" cy="247661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305315" y="932688"/>
            <a:ext cx="1182624" cy="3657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2814968" y="1018032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>
            <a:off x="2824747" y="1235183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003052" y="864145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5108" y="1081296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90176" y="864145"/>
            <a:ext cx="201304" cy="22385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1" name="TextBox 40"/>
          <p:cNvSpPr txBox="1"/>
          <p:nvPr/>
        </p:nvSpPr>
        <p:spPr>
          <a:xfrm>
            <a:off x="1329470" y="2833217"/>
            <a:ext cx="2013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9081" y="2447392"/>
            <a:ext cx="499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52172" y="2074988"/>
            <a:ext cx="4965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52170" y="1696822"/>
            <a:ext cx="4723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6976" y="1313232"/>
            <a:ext cx="486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51718" y="930911"/>
            <a:ext cx="502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478346" y="3165300"/>
            <a:ext cx="2837074" cy="1524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6" name="TextBox 55"/>
          <p:cNvSpPr txBox="1"/>
          <p:nvPr/>
        </p:nvSpPr>
        <p:spPr>
          <a:xfrm>
            <a:off x="1406401" y="3028871"/>
            <a:ext cx="196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48197" y="3023653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67585" y="3028870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76844" y="3028869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8970" y="3028868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17318" y="3021651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/>
              <p:cNvSpPr txBox="1"/>
              <p:nvPr/>
            </p:nvSpPr>
            <p:spPr>
              <a:xfrm>
                <a:off x="2800353" y="1374451"/>
                <a:ext cx="240407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975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0.19 ± 0.001 ms</a:t>
                </a:r>
              </a:p>
            </p:txBody>
          </p:sp>
        </mc:Choice>
        <mc:Fallback xmlns="">
          <p:sp>
            <p:nvSpPr>
              <p:cNvPr id="65" name="TextBox 6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0353" y="1374451"/>
                <a:ext cx="2404079" cy="307777"/>
              </a:xfrm>
              <a:prstGeom prst="rect">
                <a:avLst/>
              </a:prstGeom>
              <a:blipFill>
                <a:blip r:embed="rId5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Rectangle 67"/>
          <p:cNvSpPr/>
          <p:nvPr/>
        </p:nvSpPr>
        <p:spPr>
          <a:xfrm>
            <a:off x="2818933" y="1373284"/>
            <a:ext cx="1746301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2" name="TextBox 61"/>
          <p:cNvSpPr txBox="1"/>
          <p:nvPr/>
        </p:nvSpPr>
        <p:spPr>
          <a:xfrm>
            <a:off x="1009321" y="59087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6555" y="3078231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66" name="TextBox 65"/>
          <p:cNvSpPr txBox="1"/>
          <p:nvPr/>
        </p:nvSpPr>
        <p:spPr>
          <a:xfrm rot="16200000">
            <a:off x="-89090" y="4269341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</a:p>
        </p:txBody>
      </p:sp>
      <p:pic>
        <p:nvPicPr>
          <p:cNvPr id="69" name="Picture 68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48" t="9927" r="5410" b="12065"/>
          <a:stretch/>
        </p:blipFill>
        <p:spPr>
          <a:xfrm>
            <a:off x="5416676" y="3335188"/>
            <a:ext cx="3245906" cy="2320368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979723" y="3461505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506k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979723" y="370832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504k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979723" y="396733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502k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79723" y="420195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500k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79723" y="443658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498k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979723" y="468949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496k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79723" y="4948503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494k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99979" y="553691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20843" y="554343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581811" y="554228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49937" y="554314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17807" y="553691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33231" y="5536919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</a:p>
        </p:txBody>
      </p:sp>
      <p:sp>
        <p:nvSpPr>
          <p:cNvPr id="83" name="TextBox 82"/>
          <p:cNvSpPr txBox="1"/>
          <p:nvPr/>
        </p:nvSpPr>
        <p:spPr>
          <a:xfrm rot="16200000">
            <a:off x="3767803" y="4247398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52328" y="5745783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</a:p>
        </p:txBody>
      </p:sp>
      <p:cxnSp>
        <p:nvCxnSpPr>
          <p:cNvPr id="85" name="Straight Connector 84"/>
          <p:cNvCxnSpPr/>
          <p:nvPr/>
        </p:nvCxnSpPr>
        <p:spPr>
          <a:xfrm>
            <a:off x="5731164" y="3517815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/>
          <p:cNvCxnSpPr/>
          <p:nvPr/>
        </p:nvCxnSpPr>
        <p:spPr>
          <a:xfrm>
            <a:off x="7441864" y="3517815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921155" y="3363928"/>
            <a:ext cx="1571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/>
              <p:cNvSpPr txBox="1"/>
              <p:nvPr/>
            </p:nvSpPr>
            <p:spPr>
              <a:xfrm>
                <a:off x="5440680" y="5278875"/>
                <a:ext cx="164286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0.76 ± 0.43 ms</a:t>
                </a:r>
              </a:p>
            </p:txBody>
          </p:sp>
        </mc:Choice>
        <mc:Fallback xmlns="">
          <p:sp>
            <p:nvSpPr>
              <p:cNvPr id="90" name="TextBox 8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0680" y="5278875"/>
                <a:ext cx="1642862" cy="307777"/>
              </a:xfrm>
              <a:prstGeom prst="rect">
                <a:avLst/>
              </a:prstGeom>
              <a:blipFill>
                <a:blip r:embed="rId7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Rectangle 90"/>
          <p:cNvSpPr/>
          <p:nvPr/>
        </p:nvSpPr>
        <p:spPr>
          <a:xfrm>
            <a:off x="5507075" y="5310180"/>
            <a:ext cx="1503326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92" name="Straight Connector 91"/>
          <p:cNvCxnSpPr/>
          <p:nvPr/>
        </p:nvCxnSpPr>
        <p:spPr>
          <a:xfrm flipH="1">
            <a:off x="6296143" y="2040990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/>
          <p:nvPr/>
        </p:nvCxnSpPr>
        <p:spPr>
          <a:xfrm flipH="1">
            <a:off x="7024108" y="2060524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/>
          <p:cNvCxnSpPr/>
          <p:nvPr/>
        </p:nvCxnSpPr>
        <p:spPr>
          <a:xfrm>
            <a:off x="6279957" y="2033218"/>
            <a:ext cx="762828" cy="12966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/>
          <p:cNvCxnSpPr/>
          <p:nvPr/>
        </p:nvCxnSpPr>
        <p:spPr>
          <a:xfrm flipV="1">
            <a:off x="7019661" y="2379070"/>
            <a:ext cx="697494" cy="5753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/>
          <p:nvPr/>
        </p:nvCxnSpPr>
        <p:spPr>
          <a:xfrm flipH="1">
            <a:off x="7712712" y="2054966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/>
          <p:nvPr/>
        </p:nvCxnSpPr>
        <p:spPr>
          <a:xfrm>
            <a:off x="8435597" y="2047348"/>
            <a:ext cx="2285" cy="366297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/>
          <p:cNvCxnSpPr/>
          <p:nvPr/>
        </p:nvCxnSpPr>
        <p:spPr>
          <a:xfrm>
            <a:off x="7695235" y="2039242"/>
            <a:ext cx="757250" cy="0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/>
          <p:nvPr/>
        </p:nvCxnSpPr>
        <p:spPr>
          <a:xfrm flipV="1">
            <a:off x="5598735" y="2370034"/>
            <a:ext cx="715070" cy="903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/>
          <p:nvPr/>
        </p:nvCxnSpPr>
        <p:spPr>
          <a:xfrm>
            <a:off x="5598737" y="1283897"/>
            <a:ext cx="2839145" cy="26288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5497818" y="2081959"/>
            <a:ext cx="9398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 = 25 ms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92740" y="2366133"/>
            <a:ext cx="17508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1064 nm laser pulse</a:t>
            </a:r>
          </a:p>
        </p:txBody>
      </p:sp>
      <p:cxnSp>
        <p:nvCxnSpPr>
          <p:cNvPr id="104" name="Straight Connector 103"/>
          <p:cNvCxnSpPr/>
          <p:nvPr/>
        </p:nvCxnSpPr>
        <p:spPr>
          <a:xfrm>
            <a:off x="5611364" y="1626389"/>
            <a:ext cx="2841123" cy="9755"/>
          </a:xfrm>
          <a:prstGeom prst="line">
            <a:avLst/>
          </a:prstGeom>
          <a:ln w="381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6367009" y="1585976"/>
            <a:ext cx="18054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 nm laser pulse</a:t>
            </a:r>
          </a:p>
        </p:txBody>
      </p:sp>
      <p:cxnSp>
        <p:nvCxnSpPr>
          <p:cNvPr id="109" name="Straight Connector 108"/>
          <p:cNvCxnSpPr/>
          <p:nvPr/>
        </p:nvCxnSpPr>
        <p:spPr>
          <a:xfrm>
            <a:off x="5132605" y="1620348"/>
            <a:ext cx="2694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4738304" y="1126199"/>
            <a:ext cx="506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</a:p>
        </p:txBody>
      </p:sp>
      <p:cxnSp>
        <p:nvCxnSpPr>
          <p:cNvPr id="111" name="Straight Connector 110"/>
          <p:cNvCxnSpPr/>
          <p:nvPr/>
        </p:nvCxnSpPr>
        <p:spPr>
          <a:xfrm>
            <a:off x="5130805" y="1283531"/>
            <a:ext cx="2712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/>
          <p:cNvSpPr txBox="1"/>
          <p:nvPr/>
        </p:nvSpPr>
        <p:spPr>
          <a:xfrm>
            <a:off x="4669612" y="1464987"/>
            <a:ext cx="558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16678" y="816865"/>
            <a:ext cx="3208881" cy="22935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13" name="Straight Connector 112"/>
          <p:cNvCxnSpPr/>
          <p:nvPr/>
        </p:nvCxnSpPr>
        <p:spPr>
          <a:xfrm>
            <a:off x="5135611" y="2378416"/>
            <a:ext cx="2694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4741310" y="1884267"/>
            <a:ext cx="506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</a:p>
        </p:txBody>
      </p:sp>
      <p:cxnSp>
        <p:nvCxnSpPr>
          <p:cNvPr id="115" name="Straight Connector 114"/>
          <p:cNvCxnSpPr/>
          <p:nvPr/>
        </p:nvCxnSpPr>
        <p:spPr>
          <a:xfrm>
            <a:off x="5133811" y="2041599"/>
            <a:ext cx="2712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4672618" y="2223055"/>
            <a:ext cx="558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653194" y="3365271"/>
            <a:ext cx="1104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092684" y="5310180"/>
            <a:ext cx="1503326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7003163" y="5264874"/>
                <a:ext cx="174498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7.47 ± 2.81 ms</a:t>
                </a:r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3163" y="5264874"/>
                <a:ext cx="1744980" cy="307777"/>
              </a:xfrm>
              <a:prstGeom prst="rect">
                <a:avLst/>
              </a:prstGeom>
              <a:blipFill>
                <a:blip r:embed="rId8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TextBox 118"/>
          <p:cNvSpPr txBox="1"/>
          <p:nvPr/>
        </p:nvSpPr>
        <p:spPr>
          <a:xfrm>
            <a:off x="4869425" y="3124411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788370" y="593662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986529" y="520064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492k</a:t>
            </a:r>
          </a:p>
        </p:txBody>
      </p:sp>
    </p:spTree>
    <p:extLst>
      <p:ext uri="{BB962C8B-B14F-4D97-AF65-F5344CB8AC3E}">
        <p14:creationId xmlns:p14="http://schemas.microsoft.com/office/powerpoint/2010/main" val="30042055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/>
          <p:cNvCxnSpPr/>
          <p:nvPr/>
        </p:nvCxnSpPr>
        <p:spPr>
          <a:xfrm flipH="1">
            <a:off x="1886068" y="1707615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/>
          <p:cNvCxnSpPr/>
          <p:nvPr/>
        </p:nvCxnSpPr>
        <p:spPr>
          <a:xfrm flipH="1">
            <a:off x="2614033" y="1727149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/>
          <p:cNvCxnSpPr/>
          <p:nvPr/>
        </p:nvCxnSpPr>
        <p:spPr>
          <a:xfrm>
            <a:off x="1869882" y="1699843"/>
            <a:ext cx="762828" cy="12966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/>
          <p:cNvCxnSpPr/>
          <p:nvPr/>
        </p:nvCxnSpPr>
        <p:spPr>
          <a:xfrm flipV="1">
            <a:off x="2609586" y="2045695"/>
            <a:ext cx="697494" cy="5753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flipH="1">
            <a:off x="3302637" y="1721591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/>
        </p:nvCxnSpPr>
        <p:spPr>
          <a:xfrm>
            <a:off x="4025522" y="1713973"/>
            <a:ext cx="2285" cy="366297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>
            <a:off x="3285160" y="1705867"/>
            <a:ext cx="757250" cy="0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V="1">
            <a:off x="1188660" y="2036659"/>
            <a:ext cx="715070" cy="903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1188662" y="950522"/>
            <a:ext cx="2839145" cy="26288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87743" y="1748584"/>
            <a:ext cx="9398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 = 25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2665" y="2032758"/>
            <a:ext cx="17508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1064 nm laser pulse</a:t>
            </a:r>
          </a:p>
        </p:txBody>
      </p:sp>
      <p:cxnSp>
        <p:nvCxnSpPr>
          <p:cNvPr id="13" name="Straight Connector 12"/>
          <p:cNvCxnSpPr/>
          <p:nvPr/>
        </p:nvCxnSpPr>
        <p:spPr>
          <a:xfrm>
            <a:off x="1201289" y="1293014"/>
            <a:ext cx="2841123" cy="9755"/>
          </a:xfrm>
          <a:prstGeom prst="line">
            <a:avLst/>
          </a:prstGeom>
          <a:ln w="381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56934" y="1252601"/>
            <a:ext cx="18054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 nm laser pulse</a:t>
            </a:r>
          </a:p>
        </p:txBody>
      </p:sp>
      <p:cxnSp>
        <p:nvCxnSpPr>
          <p:cNvPr id="15" name="Straight Connector 14"/>
          <p:cNvCxnSpPr/>
          <p:nvPr/>
        </p:nvCxnSpPr>
        <p:spPr>
          <a:xfrm>
            <a:off x="722530" y="1286973"/>
            <a:ext cx="2694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28229" y="792824"/>
            <a:ext cx="506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720730" y="950156"/>
            <a:ext cx="2712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59537" y="1131612"/>
            <a:ext cx="558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6603" y="483492"/>
            <a:ext cx="3208881" cy="227558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0" name="Straight Connector 19"/>
          <p:cNvCxnSpPr/>
          <p:nvPr/>
        </p:nvCxnSpPr>
        <p:spPr>
          <a:xfrm>
            <a:off x="725536" y="2045041"/>
            <a:ext cx="2694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31235" y="1550892"/>
            <a:ext cx="506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</a:p>
        </p:txBody>
      </p:sp>
      <p:cxnSp>
        <p:nvCxnSpPr>
          <p:cNvPr id="22" name="Straight Connector 21"/>
          <p:cNvCxnSpPr/>
          <p:nvPr/>
        </p:nvCxnSpPr>
        <p:spPr>
          <a:xfrm>
            <a:off x="723736" y="1708224"/>
            <a:ext cx="2712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62543" y="1889680"/>
            <a:ext cx="558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12070" y="184087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48" t="9927" r="5410" b="12065"/>
          <a:stretch/>
        </p:blipFill>
        <p:spPr>
          <a:xfrm>
            <a:off x="995056" y="3008163"/>
            <a:ext cx="3245906" cy="232036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8103" y="313448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506k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8103" y="338129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8103" y="364030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502k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8103" y="387493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500k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8103" y="410955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498k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8103" y="436246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496k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8103" y="462147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494k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359" y="520989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99223" y="521640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60191" y="521526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28317" y="521612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6187" y="520989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11611" y="5209894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</a:p>
        </p:txBody>
      </p:sp>
      <p:sp>
        <p:nvSpPr>
          <p:cNvPr id="39" name="TextBox 38"/>
          <p:cNvSpPr txBox="1"/>
          <p:nvPr/>
        </p:nvSpPr>
        <p:spPr>
          <a:xfrm rot="16200000">
            <a:off x="3243928" y="1380373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30708" y="5371133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</a:p>
        </p:txBody>
      </p:sp>
      <p:cxnSp>
        <p:nvCxnSpPr>
          <p:cNvPr id="41" name="Straight Connector 40"/>
          <p:cNvCxnSpPr/>
          <p:nvPr/>
        </p:nvCxnSpPr>
        <p:spPr>
          <a:xfrm>
            <a:off x="1309544" y="3162215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3020244" y="3162215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499535" y="3008328"/>
            <a:ext cx="1571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1019060" y="4951850"/>
                <a:ext cx="164286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0.76 ± 0.43 ms</a:t>
                </a:r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060" y="4951850"/>
                <a:ext cx="1642862" cy="307777"/>
              </a:xfrm>
              <a:prstGeom prst="rect">
                <a:avLst/>
              </a:prstGeom>
              <a:blipFill>
                <a:blip r:embed="rId3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Rectangle 44"/>
          <p:cNvSpPr/>
          <p:nvPr/>
        </p:nvSpPr>
        <p:spPr>
          <a:xfrm>
            <a:off x="1085455" y="4983155"/>
            <a:ext cx="1503326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TextBox 45"/>
          <p:cNvSpPr txBox="1"/>
          <p:nvPr/>
        </p:nvSpPr>
        <p:spPr>
          <a:xfrm>
            <a:off x="3231574" y="3009671"/>
            <a:ext cx="1104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1064" y="4983155"/>
            <a:ext cx="1503326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/>
              <p:cNvSpPr txBox="1"/>
              <p:nvPr/>
            </p:nvSpPr>
            <p:spPr>
              <a:xfrm>
                <a:off x="2581543" y="4937849"/>
                <a:ext cx="174498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7.47 ± 2.81 ms</a:t>
                </a:r>
              </a:p>
            </p:txBody>
          </p:sp>
        </mc:Choice>
        <mc:Fallback xmlns="">
          <p:sp>
            <p:nvSpPr>
              <p:cNvPr id="48" name="Text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1543" y="4937849"/>
                <a:ext cx="1744980" cy="307777"/>
              </a:xfrm>
              <a:prstGeom prst="rect">
                <a:avLst/>
              </a:prstGeom>
              <a:blipFill>
                <a:blip r:embed="rId4"/>
                <a:stretch>
                  <a:fillRect t="-3922" b="-1960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TextBox 48"/>
          <p:cNvSpPr txBox="1"/>
          <p:nvPr/>
        </p:nvSpPr>
        <p:spPr>
          <a:xfrm>
            <a:off x="3886330" y="2730711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4909" y="487361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492k</a:t>
            </a:r>
          </a:p>
        </p:txBody>
      </p:sp>
      <p:pic>
        <p:nvPicPr>
          <p:cNvPr id="51" name="Picture 50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32" t="11043" r="5556" b="12458"/>
          <a:stretch/>
        </p:blipFill>
        <p:spPr>
          <a:xfrm>
            <a:off x="4589492" y="3044080"/>
            <a:ext cx="3219592" cy="227453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221102" y="315989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21k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21102" y="346654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21102" y="374833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1102" y="405314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18k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21102" y="433827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17k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18996" y="4953893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48791" y="521757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69655" y="522408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30623" y="522293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98749" y="522380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66619" y="521757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35919" y="5372437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4602494" y="4939207"/>
                <a:ext cx="164286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0.15 ± 0.19 ms</a:t>
                </a:r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2494" y="4939207"/>
                <a:ext cx="1642862" cy="307777"/>
              </a:xfrm>
              <a:prstGeom prst="rect">
                <a:avLst/>
              </a:prstGeom>
              <a:blipFill>
                <a:blip r:embed="rId6"/>
                <a:stretch>
                  <a:fillRect t="-3922" b="-1960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ectangle 68"/>
          <p:cNvSpPr/>
          <p:nvPr/>
        </p:nvSpPr>
        <p:spPr>
          <a:xfrm>
            <a:off x="4655887" y="4970512"/>
            <a:ext cx="1503326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0" name="Rectangle 69"/>
          <p:cNvSpPr/>
          <p:nvPr/>
        </p:nvSpPr>
        <p:spPr>
          <a:xfrm>
            <a:off x="6241496" y="4970068"/>
            <a:ext cx="1503326" cy="262915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1" name="TextBox 70"/>
          <p:cNvSpPr txBox="1"/>
          <p:nvPr/>
        </p:nvSpPr>
        <p:spPr>
          <a:xfrm>
            <a:off x="7481242" y="2734261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21102" y="465782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/>
              <p:cNvSpPr txBox="1"/>
              <p:nvPr/>
            </p:nvSpPr>
            <p:spPr>
              <a:xfrm>
                <a:off x="6141412" y="4939813"/>
                <a:ext cx="174498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3.65 ± 0.86 ms</a:t>
                </a:r>
              </a:p>
            </p:txBody>
          </p:sp>
        </mc:Choice>
        <mc:Fallback xmlns="">
          <p:sp>
            <p:nvSpPr>
              <p:cNvPr id="73" name="TextBox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1412" y="4939813"/>
                <a:ext cx="1744980" cy="307777"/>
              </a:xfrm>
              <a:prstGeom prst="rect">
                <a:avLst/>
              </a:prstGeom>
              <a:blipFill>
                <a:blip r:embed="rId7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Connector 74"/>
          <p:cNvCxnSpPr/>
          <p:nvPr/>
        </p:nvCxnSpPr>
        <p:spPr>
          <a:xfrm>
            <a:off x="4881419" y="3165377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/>
          <p:nvPr/>
        </p:nvCxnSpPr>
        <p:spPr>
          <a:xfrm>
            <a:off x="6592119" y="3165377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5071410" y="3011490"/>
            <a:ext cx="1571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03449" y="3012833"/>
            <a:ext cx="1104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383486" y="5219419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</a:p>
        </p:txBody>
      </p:sp>
    </p:spTree>
    <p:extLst>
      <p:ext uri="{BB962C8B-B14F-4D97-AF65-F5344CB8AC3E}">
        <p14:creationId xmlns:p14="http://schemas.microsoft.com/office/powerpoint/2010/main" val="4561006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/>
          <p:cNvCxnSpPr/>
          <p:nvPr/>
        </p:nvCxnSpPr>
        <p:spPr>
          <a:xfrm flipH="1">
            <a:off x="1886068" y="747046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/>
          <p:cNvCxnSpPr/>
          <p:nvPr/>
        </p:nvCxnSpPr>
        <p:spPr>
          <a:xfrm flipH="1">
            <a:off x="2614033" y="766580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/>
          <p:cNvCxnSpPr/>
          <p:nvPr/>
        </p:nvCxnSpPr>
        <p:spPr>
          <a:xfrm>
            <a:off x="1869882" y="739274"/>
            <a:ext cx="762828" cy="12966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/>
          <p:cNvCxnSpPr/>
          <p:nvPr/>
        </p:nvCxnSpPr>
        <p:spPr>
          <a:xfrm flipV="1">
            <a:off x="2609586" y="1085126"/>
            <a:ext cx="697494" cy="5753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flipH="1">
            <a:off x="3302637" y="761022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/>
        </p:nvCxnSpPr>
        <p:spPr>
          <a:xfrm>
            <a:off x="4025522" y="753404"/>
            <a:ext cx="2285" cy="366297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>
            <a:off x="3285160" y="745298"/>
            <a:ext cx="757250" cy="0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V="1">
            <a:off x="1188660" y="1076090"/>
            <a:ext cx="715070" cy="903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1188662" y="-10047"/>
            <a:ext cx="2839145" cy="26288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87743" y="788015"/>
            <a:ext cx="9398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 = 25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2665" y="1072189"/>
            <a:ext cx="17508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1064 nm laser pulse</a:t>
            </a:r>
          </a:p>
        </p:txBody>
      </p:sp>
      <p:cxnSp>
        <p:nvCxnSpPr>
          <p:cNvPr id="13" name="Straight Connector 12"/>
          <p:cNvCxnSpPr/>
          <p:nvPr/>
        </p:nvCxnSpPr>
        <p:spPr>
          <a:xfrm>
            <a:off x="1201289" y="332445"/>
            <a:ext cx="2841123" cy="9755"/>
          </a:xfrm>
          <a:prstGeom prst="line">
            <a:avLst/>
          </a:prstGeom>
          <a:ln w="381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56934" y="292032"/>
            <a:ext cx="18054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 nm laser pulse</a:t>
            </a:r>
          </a:p>
        </p:txBody>
      </p:sp>
      <p:cxnSp>
        <p:nvCxnSpPr>
          <p:cNvPr id="15" name="Straight Connector 14"/>
          <p:cNvCxnSpPr/>
          <p:nvPr/>
        </p:nvCxnSpPr>
        <p:spPr>
          <a:xfrm>
            <a:off x="722530" y="326404"/>
            <a:ext cx="2694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28229" y="-167746"/>
            <a:ext cx="506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720728" y="-10413"/>
            <a:ext cx="2712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59537" y="171043"/>
            <a:ext cx="558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6603" y="-92351"/>
            <a:ext cx="3208881" cy="142240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0" name="Straight Connector 19"/>
          <p:cNvCxnSpPr/>
          <p:nvPr/>
        </p:nvCxnSpPr>
        <p:spPr>
          <a:xfrm>
            <a:off x="725536" y="1084472"/>
            <a:ext cx="2694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31235" y="590323"/>
            <a:ext cx="506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</a:p>
        </p:txBody>
      </p:sp>
      <p:cxnSp>
        <p:nvCxnSpPr>
          <p:cNvPr id="22" name="Straight Connector 21"/>
          <p:cNvCxnSpPr/>
          <p:nvPr/>
        </p:nvCxnSpPr>
        <p:spPr>
          <a:xfrm>
            <a:off x="723736" y="747655"/>
            <a:ext cx="2712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62543" y="929111"/>
            <a:ext cx="558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12068" y="-397795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837" y="145272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8446" y="1766865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447" y="208758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37" y="2417573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8446" y="275317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446" y="306218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2837" y="340534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359" y="374131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99223" y="374783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60191" y="374668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28317" y="374754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6187" y="374131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11611" y="3741317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</a:p>
        </p:txBody>
      </p:sp>
      <p:sp>
        <p:nvSpPr>
          <p:cNvPr id="39" name="TextBox 38"/>
          <p:cNvSpPr txBox="1"/>
          <p:nvPr/>
        </p:nvSpPr>
        <p:spPr>
          <a:xfrm rot="16200000">
            <a:off x="-586262" y="2365239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86330" y="1262134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pic>
        <p:nvPicPr>
          <p:cNvPr id="63" name="Picture 6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33" t="10909" r="5858" b="12862"/>
          <a:stretch/>
        </p:blipFill>
        <p:spPr>
          <a:xfrm>
            <a:off x="1014017" y="1553354"/>
            <a:ext cx="3211514" cy="2272146"/>
          </a:xfrm>
          <a:prstGeom prst="rect">
            <a:avLst/>
          </a:prstGeom>
        </p:spPr>
      </p:pic>
      <p:grpSp>
        <p:nvGrpSpPr>
          <p:cNvPr id="65" name="Group 64"/>
          <p:cNvGrpSpPr/>
          <p:nvPr/>
        </p:nvGrpSpPr>
        <p:grpSpPr>
          <a:xfrm>
            <a:off x="895251" y="1288468"/>
            <a:ext cx="707129" cy="307777"/>
            <a:chOff x="906847" y="1279758"/>
            <a:chExt cx="439509" cy="307777"/>
          </a:xfrm>
        </p:grpSpPr>
        <p:sp>
          <p:nvSpPr>
            <p:cNvPr id="80" name="TextBox 79"/>
            <p:cNvSpPr txBox="1"/>
            <p:nvPr/>
          </p:nvSpPr>
          <p:spPr>
            <a:xfrm>
              <a:off x="906847" y="1279758"/>
              <a:ext cx="43950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  10</a:t>
              </a:r>
              <a:r>
                <a:rPr lang="en-IN" sz="140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941386" y="1330246"/>
              <a:ext cx="26560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</a:p>
          </p:txBody>
        </p:sp>
      </p:grpSp>
      <p:pic>
        <p:nvPicPr>
          <p:cNvPr id="66" name="Picture 6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38" t="10921" r="5810" b="13016"/>
          <a:stretch/>
        </p:blipFill>
        <p:spPr>
          <a:xfrm>
            <a:off x="1001484" y="4180129"/>
            <a:ext cx="3225371" cy="2272938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1065297" y="636884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586161" y="637535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147129" y="637420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715255" y="637507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283125" y="636884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798549" y="6368843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17646" y="6530082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08103" y="3879070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36984" y="4189300"/>
            <a:ext cx="4017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24285" y="4586217"/>
            <a:ext cx="3699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18675" y="4973358"/>
            <a:ext cx="3819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0634" y="5347061"/>
            <a:ext cx="4207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24284" y="5732272"/>
            <a:ext cx="4207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18675" y="6100827"/>
            <a:ext cx="3882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r>
          </a:p>
        </p:txBody>
      </p:sp>
      <p:sp>
        <p:nvSpPr>
          <p:cNvPr id="98" name="TextBox 97"/>
          <p:cNvSpPr txBox="1"/>
          <p:nvPr/>
        </p:nvSpPr>
        <p:spPr>
          <a:xfrm rot="16200000">
            <a:off x="-588691" y="5054662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</a:p>
        </p:txBody>
      </p:sp>
      <p:grpSp>
        <p:nvGrpSpPr>
          <p:cNvPr id="99" name="Group 98"/>
          <p:cNvGrpSpPr/>
          <p:nvPr/>
        </p:nvGrpSpPr>
        <p:grpSpPr>
          <a:xfrm>
            <a:off x="882189" y="3914103"/>
            <a:ext cx="707129" cy="307777"/>
            <a:chOff x="906847" y="1279758"/>
            <a:chExt cx="439509" cy="307777"/>
          </a:xfrm>
        </p:grpSpPr>
        <p:sp>
          <p:nvSpPr>
            <p:cNvPr id="100" name="TextBox 99"/>
            <p:cNvSpPr txBox="1"/>
            <p:nvPr/>
          </p:nvSpPr>
          <p:spPr>
            <a:xfrm>
              <a:off x="906847" y="1279758"/>
              <a:ext cx="43950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  10</a:t>
              </a:r>
              <a:r>
                <a:rPr lang="en-IN" sz="140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r>
                <a: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941386" y="1330246"/>
              <a:ext cx="26560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53445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/>
          <p:cNvCxnSpPr/>
          <p:nvPr/>
        </p:nvCxnSpPr>
        <p:spPr>
          <a:xfrm>
            <a:off x="3611563" y="947601"/>
            <a:ext cx="2447492" cy="12983"/>
          </a:xfrm>
          <a:prstGeom prst="line">
            <a:avLst/>
          </a:prstGeom>
          <a:ln w="762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/>
          <p:cNvCxnSpPr/>
          <p:nvPr/>
        </p:nvCxnSpPr>
        <p:spPr>
          <a:xfrm flipV="1">
            <a:off x="3605706" y="3033861"/>
            <a:ext cx="2453351" cy="10583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/>
          <p:cNvCxnSpPr/>
          <p:nvPr/>
        </p:nvCxnSpPr>
        <p:spPr>
          <a:xfrm>
            <a:off x="3594453" y="1979156"/>
            <a:ext cx="2464602" cy="18064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rc 11"/>
          <p:cNvSpPr/>
          <p:nvPr/>
        </p:nvSpPr>
        <p:spPr>
          <a:xfrm rot="18990667" flipH="1">
            <a:off x="4033760" y="1901119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44450">
            <a:solidFill>
              <a:srgbClr val="C3137C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Arc 12"/>
          <p:cNvSpPr/>
          <p:nvPr/>
        </p:nvSpPr>
        <p:spPr>
          <a:xfrm rot="18990667" flipH="1">
            <a:off x="4069982" y="864799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31750">
            <a:solidFill>
              <a:srgbClr val="C3137C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Arc 13"/>
          <p:cNvSpPr/>
          <p:nvPr/>
        </p:nvSpPr>
        <p:spPr>
          <a:xfrm rot="8238481" flipH="1">
            <a:off x="3237477" y="1848325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28575">
            <a:solidFill>
              <a:srgbClr val="EC38A3">
                <a:alpha val="85000"/>
              </a:srgbClr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Arc 14"/>
          <p:cNvSpPr/>
          <p:nvPr/>
        </p:nvSpPr>
        <p:spPr>
          <a:xfrm rot="8238481" flipH="1">
            <a:off x="3834137" y="564486"/>
            <a:ext cx="2530571" cy="2724128"/>
          </a:xfrm>
          <a:prstGeom prst="arc">
            <a:avLst>
              <a:gd name="adj1" fmla="val 15976505"/>
              <a:gd name="adj2" fmla="val 92060"/>
            </a:avLst>
          </a:prstGeom>
          <a:ln w="38100">
            <a:solidFill>
              <a:srgbClr val="FF0000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Arc 15"/>
          <p:cNvSpPr/>
          <p:nvPr/>
        </p:nvSpPr>
        <p:spPr>
          <a:xfrm rot="18990667" flipH="1">
            <a:off x="5043905" y="1901119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34925">
            <a:solidFill>
              <a:srgbClr val="F250DB">
                <a:alpha val="74000"/>
              </a:srgbClr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Arc 16"/>
          <p:cNvSpPr/>
          <p:nvPr/>
        </p:nvSpPr>
        <p:spPr>
          <a:xfrm rot="18990667" flipH="1">
            <a:off x="5080127" y="864799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25400">
            <a:solidFill>
              <a:srgbClr val="F250DB">
                <a:alpha val="68000"/>
              </a:srgbClr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Arc 17"/>
          <p:cNvSpPr/>
          <p:nvPr/>
        </p:nvSpPr>
        <p:spPr>
          <a:xfrm rot="8238481" flipH="1">
            <a:off x="4247621" y="1858905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34925">
            <a:solidFill>
              <a:srgbClr val="EC38A3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TextBox 18"/>
          <p:cNvSpPr txBox="1"/>
          <p:nvPr/>
        </p:nvSpPr>
        <p:spPr>
          <a:xfrm>
            <a:off x="3268279" y="773890"/>
            <a:ext cx="597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261993" y="1794490"/>
            <a:ext cx="597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271543" y="2833778"/>
            <a:ext cx="597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/>
              <p:cNvSpPr txBox="1"/>
              <p:nvPr/>
            </p:nvSpPr>
            <p:spPr>
              <a:xfrm>
                <a:off x="3594455" y="2044231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baseline="-25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baseline="-2500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i="1" baseline="-250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IN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4455" y="2044231"/>
                <a:ext cx="597207" cy="453137"/>
              </a:xfrm>
              <a:prstGeom prst="rect">
                <a:avLst/>
              </a:prstGeom>
              <a:blipFill>
                <a:blip r:embed="rId2"/>
                <a:stretch>
                  <a:fillRect b="-30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3641148" y="1022386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1148" y="1022386"/>
                <a:ext cx="597207" cy="453137"/>
              </a:xfrm>
              <a:prstGeom prst="rect">
                <a:avLst/>
              </a:prstGeom>
              <a:blipFill>
                <a:blip r:embed="rId3"/>
                <a:stretch>
                  <a:fillRect b="-3108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4647469" y="1014234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7469" y="1014234"/>
                <a:ext cx="597207" cy="453137"/>
              </a:xfrm>
              <a:prstGeom prst="rect">
                <a:avLst/>
              </a:prstGeom>
              <a:blipFill>
                <a:blip r:embed="rId4"/>
                <a:stretch>
                  <a:fillRect b="-30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4647470" y="2054814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/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7470" y="2054814"/>
                <a:ext cx="597207" cy="453137"/>
              </a:xfrm>
              <a:prstGeom prst="rect">
                <a:avLst/>
              </a:prstGeom>
              <a:blipFill>
                <a:blip r:embed="rId5"/>
                <a:stretch>
                  <a:fillRect b="-3243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/>
              <p:cNvSpPr txBox="1"/>
              <p:nvPr/>
            </p:nvSpPr>
            <p:spPr>
              <a:xfrm>
                <a:off x="4379330" y="2048444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/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7" name="Text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9330" y="2048444"/>
                <a:ext cx="597207" cy="453137"/>
              </a:xfrm>
              <a:prstGeom prst="rect">
                <a:avLst/>
              </a:prstGeom>
              <a:blipFill>
                <a:blip r:embed="rId6"/>
                <a:stretch>
                  <a:fillRect b="-3243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5389475" y="2085601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/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9475" y="2085601"/>
                <a:ext cx="597207" cy="453137"/>
              </a:xfrm>
              <a:prstGeom prst="rect">
                <a:avLst/>
              </a:prstGeom>
              <a:blipFill>
                <a:blip r:embed="rId7"/>
                <a:stretch>
                  <a:fillRect b="-3243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Arc 28"/>
          <p:cNvSpPr/>
          <p:nvPr/>
        </p:nvSpPr>
        <p:spPr>
          <a:xfrm rot="8238481" flipH="1">
            <a:off x="4741291" y="1856623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38100">
            <a:solidFill>
              <a:schemeClr val="bg1">
                <a:lumMod val="65000"/>
              </a:schemeClr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/>
              <p:cNvSpPr txBox="1"/>
              <p:nvPr/>
            </p:nvSpPr>
            <p:spPr>
              <a:xfrm>
                <a:off x="5882642" y="2097025"/>
                <a:ext cx="605615" cy="453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/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0" name="Text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2642" y="2097025"/>
                <a:ext cx="605615" cy="453336"/>
              </a:xfrm>
              <a:prstGeom prst="rect">
                <a:avLst/>
              </a:prstGeom>
              <a:blipFill>
                <a:blip r:embed="rId8"/>
                <a:stretch>
                  <a:fillRect b="-3783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/>
              <p:cNvSpPr txBox="1"/>
              <p:nvPr/>
            </p:nvSpPr>
            <p:spPr>
              <a:xfrm>
                <a:off x="6330288" y="1542489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/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0288" y="1542489"/>
                <a:ext cx="597207" cy="453137"/>
              </a:xfrm>
              <a:prstGeom prst="rect">
                <a:avLst/>
              </a:prstGeom>
              <a:blipFill>
                <a:blip r:embed="rId9"/>
                <a:stretch>
                  <a:fillRect b="-3783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/>
          <p:cNvSpPr/>
          <p:nvPr/>
        </p:nvSpPr>
        <p:spPr>
          <a:xfrm>
            <a:off x="3747377" y="816864"/>
            <a:ext cx="960171" cy="2352866"/>
          </a:xfrm>
          <a:prstGeom prst="rect">
            <a:avLst/>
          </a:prstGeom>
          <a:noFill/>
          <a:ln w="22225">
            <a:solidFill>
              <a:schemeClr val="accent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8" name="Rectangle 37"/>
          <p:cNvSpPr/>
          <p:nvPr/>
        </p:nvSpPr>
        <p:spPr>
          <a:xfrm>
            <a:off x="4772078" y="820374"/>
            <a:ext cx="960171" cy="2352866"/>
          </a:xfrm>
          <a:prstGeom prst="rect">
            <a:avLst/>
          </a:prstGeom>
          <a:noFill/>
          <a:ln w="22225">
            <a:solidFill>
              <a:schemeClr val="accent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3" name="TextBox 42"/>
          <p:cNvSpPr txBox="1"/>
          <p:nvPr/>
        </p:nvSpPr>
        <p:spPr>
          <a:xfrm>
            <a:off x="3785818" y="3124372"/>
            <a:ext cx="1005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 nm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759904" y="3129258"/>
            <a:ext cx="1005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1064 nm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Straight Arrow Connector 8"/>
          <p:cNvCxnSpPr/>
          <p:nvPr/>
        </p:nvCxnSpPr>
        <p:spPr>
          <a:xfrm flipV="1">
            <a:off x="3072808" y="893135"/>
            <a:ext cx="21265" cy="2126512"/>
          </a:xfrm>
          <a:prstGeom prst="straightConnector1">
            <a:avLst/>
          </a:prstGeom>
          <a:ln w="57150">
            <a:solidFill>
              <a:srgbClr val="EC38A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417757" y="246493"/>
            <a:ext cx="13674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Two-photon process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100170" y="1004949"/>
            <a:ext cx="13674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Visible emission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04118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800734" y="294990"/>
            <a:ext cx="3132565" cy="230136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65" t="15417" r="10503" b="12361"/>
          <a:stretch/>
        </p:blipFill>
        <p:spPr>
          <a:xfrm>
            <a:off x="815957" y="305190"/>
            <a:ext cx="3110355" cy="228361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 rot="1500000">
            <a:off x="727637" y="1404140"/>
            <a:ext cx="154384" cy="725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1" name="Straight Connector 10"/>
          <p:cNvCxnSpPr/>
          <p:nvPr/>
        </p:nvCxnSpPr>
        <p:spPr>
          <a:xfrm>
            <a:off x="690581" y="1373436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678042" y="1455959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 rot="7620000">
            <a:off x="2300870" y="2561056"/>
            <a:ext cx="145701" cy="669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4" name="Straight Connector 23"/>
          <p:cNvCxnSpPr/>
          <p:nvPr/>
        </p:nvCxnSpPr>
        <p:spPr>
          <a:xfrm rot="6120000">
            <a:off x="2302532" y="2582576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rot="6120000">
            <a:off x="2218639" y="2573220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174983" y="2521625"/>
            <a:ext cx="4250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97879" y="252047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38600" y="251987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68339" y="2524638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55526" y="2679504"/>
            <a:ext cx="1974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 nm power (mW)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1018" y="167837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8425" y="220408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-150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11290" y="-1933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5293" y="193182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08943" y="251658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469" y="897929"/>
            <a:ext cx="41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4831" y="645517"/>
            <a:ext cx="41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8182" y="397866"/>
            <a:ext cx="41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831" y="1117004"/>
            <a:ext cx="41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6278" y="1405151"/>
            <a:ext cx="4243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52" name="Rectangle 51"/>
          <p:cNvSpPr/>
          <p:nvPr/>
        </p:nvSpPr>
        <p:spPr>
          <a:xfrm rot="1500000">
            <a:off x="3864408" y="1410839"/>
            <a:ext cx="154384" cy="725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53" name="Straight Connector 52"/>
          <p:cNvCxnSpPr/>
          <p:nvPr/>
        </p:nvCxnSpPr>
        <p:spPr>
          <a:xfrm>
            <a:off x="3827352" y="1380135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3814813" y="1462658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2380280" y="251658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56" name="Rectangle 55"/>
          <p:cNvSpPr/>
          <p:nvPr/>
        </p:nvSpPr>
        <p:spPr>
          <a:xfrm rot="7620000">
            <a:off x="2304013" y="259818"/>
            <a:ext cx="145701" cy="669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57" name="Straight Connector 56"/>
          <p:cNvCxnSpPr/>
          <p:nvPr/>
        </p:nvCxnSpPr>
        <p:spPr>
          <a:xfrm rot="6120000">
            <a:off x="2305675" y="281338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rot="6120000">
            <a:off x="2221782" y="271982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 rot="16200000">
            <a:off x="-474392" y="1274388"/>
            <a:ext cx="1670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 change, S (%) </a:t>
            </a:r>
          </a:p>
        </p:txBody>
      </p:sp>
      <p:sp>
        <p:nvSpPr>
          <p:cNvPr id="61" name="Oval 60"/>
          <p:cNvSpPr/>
          <p:nvPr/>
        </p:nvSpPr>
        <p:spPr>
          <a:xfrm>
            <a:off x="2347274" y="2197109"/>
            <a:ext cx="71563" cy="75537"/>
          </a:xfrm>
          <a:prstGeom prst="ellipse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0" name="Oval 59"/>
          <p:cNvSpPr/>
          <p:nvPr/>
        </p:nvSpPr>
        <p:spPr>
          <a:xfrm>
            <a:off x="2343257" y="1916114"/>
            <a:ext cx="71563" cy="7553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5" name="Straight Connector 64"/>
          <p:cNvCxnSpPr/>
          <p:nvPr/>
        </p:nvCxnSpPr>
        <p:spPr>
          <a:xfrm>
            <a:off x="2378020" y="1864807"/>
            <a:ext cx="0" cy="1800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2341686" y="1868785"/>
            <a:ext cx="72000" cy="1323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/>
          <p:nvPr/>
        </p:nvCxnSpPr>
        <p:spPr>
          <a:xfrm flipH="1">
            <a:off x="2339035" y="2041814"/>
            <a:ext cx="72000" cy="1323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2384852" y="1794252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392501" y="2063158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Stimulated data</a:t>
            </a:r>
          </a:p>
        </p:txBody>
      </p:sp>
      <p:pic>
        <p:nvPicPr>
          <p:cNvPr id="74" name="Picture 7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47" t="14884" r="11996" b="11782"/>
          <a:stretch/>
        </p:blipFill>
        <p:spPr>
          <a:xfrm>
            <a:off x="4476322" y="287079"/>
            <a:ext cx="1499184" cy="1139994"/>
          </a:xfrm>
          <a:prstGeom prst="rect">
            <a:avLst/>
          </a:prstGeom>
        </p:spPr>
      </p:pic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47" t="14884" r="12126" b="11782"/>
          <a:stretch/>
        </p:blipFill>
        <p:spPr>
          <a:xfrm>
            <a:off x="4482672" y="1478791"/>
            <a:ext cx="1488552" cy="1133793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414489" y="2521463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797870" y="2526225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195539" y="2526226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574158" y="2523844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354356" y="2675202"/>
            <a:ext cx="1974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 nm power (mW)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201811" y="2281490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04085" y="2010809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204085" y="1720795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207497" y="1451251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202534" y="1094795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04808" y="824114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04808" y="534100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208220" y="264556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</a:p>
        </p:txBody>
      </p:sp>
      <p:sp>
        <p:nvSpPr>
          <p:cNvPr id="91" name="TextBox 90"/>
          <p:cNvSpPr txBox="1"/>
          <p:nvPr/>
        </p:nvSpPr>
        <p:spPr>
          <a:xfrm rot="-5400000">
            <a:off x="3107827" y="1204343"/>
            <a:ext cx="20922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1064 nm power (mW)</a:t>
            </a:r>
          </a:p>
        </p:txBody>
      </p:sp>
      <p:pic>
        <p:nvPicPr>
          <p:cNvPr id="92" name="Picture 91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598" t="14884" r="5383" b="11782"/>
          <a:stretch/>
        </p:blipFill>
        <p:spPr>
          <a:xfrm>
            <a:off x="5987846" y="222721"/>
            <a:ext cx="206965" cy="2456553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6098985" y="2401506"/>
            <a:ext cx="4123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95635" y="1930909"/>
            <a:ext cx="4123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085588" y="1453612"/>
            <a:ext cx="4123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085588" y="976315"/>
            <a:ext cx="4123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080564" y="493994"/>
            <a:ext cx="4123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40186" y="-14748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706786" y="242429"/>
            <a:ext cx="4510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IN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665511" y="1442579"/>
            <a:ext cx="4510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(ii)</a:t>
            </a:r>
          </a:p>
        </p:txBody>
      </p:sp>
      <p:cxnSp>
        <p:nvCxnSpPr>
          <p:cNvPr id="67" name="Straight Connector 66"/>
          <p:cNvCxnSpPr/>
          <p:nvPr/>
        </p:nvCxnSpPr>
        <p:spPr>
          <a:xfrm>
            <a:off x="8584499" y="532488"/>
            <a:ext cx="2447492" cy="12983"/>
          </a:xfrm>
          <a:prstGeom prst="line">
            <a:avLst/>
          </a:prstGeom>
          <a:ln w="762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 flipV="1">
            <a:off x="8578642" y="2618748"/>
            <a:ext cx="2453351" cy="10583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8567389" y="1564043"/>
            <a:ext cx="2464602" cy="18064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Arc 71"/>
          <p:cNvSpPr/>
          <p:nvPr/>
        </p:nvSpPr>
        <p:spPr>
          <a:xfrm rot="18990667" flipH="1">
            <a:off x="9006696" y="1486006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44450">
            <a:solidFill>
              <a:srgbClr val="C3137C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6" name="Arc 75"/>
          <p:cNvSpPr/>
          <p:nvPr/>
        </p:nvSpPr>
        <p:spPr>
          <a:xfrm rot="18990667" flipH="1">
            <a:off x="9042918" y="449686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31750">
            <a:solidFill>
              <a:srgbClr val="C3137C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2" name="Arc 81"/>
          <p:cNvSpPr/>
          <p:nvPr/>
        </p:nvSpPr>
        <p:spPr>
          <a:xfrm rot="8238481" flipH="1">
            <a:off x="8210413" y="1433212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28575">
            <a:solidFill>
              <a:srgbClr val="EC38A3">
                <a:alpha val="85000"/>
              </a:srgbClr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3" name="Arc 92"/>
          <p:cNvSpPr/>
          <p:nvPr/>
        </p:nvSpPr>
        <p:spPr>
          <a:xfrm rot="8238481" flipH="1">
            <a:off x="8817706" y="149373"/>
            <a:ext cx="2530571" cy="2724128"/>
          </a:xfrm>
          <a:prstGeom prst="arc">
            <a:avLst>
              <a:gd name="adj1" fmla="val 15976505"/>
              <a:gd name="adj2" fmla="val 211274"/>
            </a:avLst>
          </a:prstGeom>
          <a:ln w="38100">
            <a:solidFill>
              <a:srgbClr val="FF0000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9" name="Arc 98"/>
          <p:cNvSpPr/>
          <p:nvPr/>
        </p:nvSpPr>
        <p:spPr>
          <a:xfrm rot="18990667" flipH="1">
            <a:off x="10016841" y="1486006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34925">
            <a:solidFill>
              <a:srgbClr val="F250DB">
                <a:alpha val="74000"/>
              </a:srgbClr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3" name="Arc 102"/>
          <p:cNvSpPr/>
          <p:nvPr/>
        </p:nvSpPr>
        <p:spPr>
          <a:xfrm rot="18990667" flipH="1">
            <a:off x="10053063" y="449686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25400">
            <a:solidFill>
              <a:srgbClr val="F250DB">
                <a:alpha val="68000"/>
              </a:srgbClr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4" name="Arc 103"/>
          <p:cNvSpPr/>
          <p:nvPr/>
        </p:nvSpPr>
        <p:spPr>
          <a:xfrm rot="8238481" flipH="1">
            <a:off x="9220557" y="1443792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34925">
            <a:solidFill>
              <a:srgbClr val="EC38A3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5" name="TextBox 104"/>
          <p:cNvSpPr txBox="1"/>
          <p:nvPr/>
        </p:nvSpPr>
        <p:spPr>
          <a:xfrm>
            <a:off x="8219949" y="294980"/>
            <a:ext cx="597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24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8213665" y="1326213"/>
            <a:ext cx="597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24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8212581" y="2386767"/>
            <a:ext cx="597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24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/>
              <p:cNvSpPr txBox="1"/>
              <p:nvPr/>
            </p:nvSpPr>
            <p:spPr>
              <a:xfrm>
                <a:off x="8578023" y="1873671"/>
                <a:ext cx="597207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baseline="-25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8" name="TextBox 10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8023" y="1873671"/>
                <a:ext cx="597207" cy="573427"/>
              </a:xfrm>
              <a:prstGeom prst="rect">
                <a:avLst/>
              </a:prstGeom>
              <a:blipFill>
                <a:blip r:embed="rId5"/>
                <a:stretch>
                  <a:fillRect b="-2446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Box 108"/>
              <p:cNvSpPr txBox="1"/>
              <p:nvPr/>
            </p:nvSpPr>
            <p:spPr>
              <a:xfrm>
                <a:off x="8582185" y="809298"/>
                <a:ext cx="597207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IN" sz="32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9" name="TextBox 10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2185" y="809298"/>
                <a:ext cx="597207" cy="573427"/>
              </a:xfrm>
              <a:prstGeom prst="rect">
                <a:avLst/>
              </a:prstGeom>
              <a:blipFill>
                <a:blip r:embed="rId6"/>
                <a:stretch>
                  <a:fillRect b="-2446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/>
              <p:cNvSpPr txBox="1"/>
              <p:nvPr/>
            </p:nvSpPr>
            <p:spPr>
              <a:xfrm>
                <a:off x="9620405" y="833041"/>
                <a:ext cx="597207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IN" sz="32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0" name="TextBox 10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0405" y="833041"/>
                <a:ext cx="597207" cy="573427"/>
              </a:xfrm>
              <a:prstGeom prst="rect">
                <a:avLst/>
              </a:prstGeom>
              <a:blipFill>
                <a:blip r:embed="rId7"/>
                <a:stretch>
                  <a:fillRect b="-2446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/>
              <p:cNvSpPr txBox="1"/>
              <p:nvPr/>
            </p:nvSpPr>
            <p:spPr>
              <a:xfrm>
                <a:off x="9662937" y="1862988"/>
                <a:ext cx="597207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/>
                      </m:sSubSup>
                    </m:oMath>
                  </m:oMathPara>
                </a14:m>
                <a:endParaRPr lang="en-IN" sz="32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1" name="TextBox 1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2937" y="1862988"/>
                <a:ext cx="597207" cy="573427"/>
              </a:xfrm>
              <a:prstGeom prst="rect">
                <a:avLst/>
              </a:prstGeom>
              <a:blipFill>
                <a:blip r:embed="rId8"/>
                <a:stretch>
                  <a:fillRect b="-2446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/>
              <p:cNvSpPr txBox="1"/>
              <p:nvPr/>
            </p:nvSpPr>
            <p:spPr>
              <a:xfrm>
                <a:off x="9362899" y="1144229"/>
                <a:ext cx="597207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/>
                      </m:sSubSup>
                    </m:oMath>
                  </m:oMathPara>
                </a14:m>
                <a:endParaRPr lang="en-IN" sz="32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2" name="TextBox 1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2899" y="1144229"/>
                <a:ext cx="597207" cy="573427"/>
              </a:xfrm>
              <a:prstGeom prst="rect">
                <a:avLst/>
              </a:prstGeom>
              <a:blipFill>
                <a:blip r:embed="rId9"/>
                <a:stretch>
                  <a:fillRect b="-2446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112"/>
              <p:cNvSpPr txBox="1"/>
              <p:nvPr/>
            </p:nvSpPr>
            <p:spPr>
              <a:xfrm>
                <a:off x="10373044" y="1149485"/>
                <a:ext cx="597207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/>
                      </m:sSubSup>
                    </m:oMath>
                  </m:oMathPara>
                </a14:m>
                <a:endParaRPr lang="en-IN" sz="32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3" name="TextBox 1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3044" y="1149485"/>
                <a:ext cx="597207" cy="573427"/>
              </a:xfrm>
              <a:prstGeom prst="rect">
                <a:avLst/>
              </a:prstGeom>
              <a:blipFill>
                <a:blip r:embed="rId10"/>
                <a:stretch>
                  <a:fillRect b="-2446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4" name="Arc 113"/>
          <p:cNvSpPr/>
          <p:nvPr/>
        </p:nvSpPr>
        <p:spPr>
          <a:xfrm rot="8238481" flipH="1">
            <a:off x="9814951" y="1546727"/>
            <a:ext cx="1150546" cy="1137418"/>
          </a:xfrm>
          <a:prstGeom prst="arc">
            <a:avLst>
              <a:gd name="adj1" fmla="val 15821220"/>
              <a:gd name="adj2" fmla="val 696015"/>
            </a:avLst>
          </a:prstGeom>
          <a:ln w="38100">
            <a:solidFill>
              <a:schemeClr val="bg1">
                <a:lumMod val="65000"/>
              </a:schemeClr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TextBox 114"/>
              <p:cNvSpPr txBox="1"/>
              <p:nvPr/>
            </p:nvSpPr>
            <p:spPr>
              <a:xfrm>
                <a:off x="10834313" y="1212189"/>
                <a:ext cx="605615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/>
                      </m:sSubSup>
                    </m:oMath>
                  </m:oMathPara>
                </a14:m>
                <a:endParaRPr lang="en-IN" sz="32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5" name="TextBox 1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34313" y="1212189"/>
                <a:ext cx="605615" cy="573427"/>
              </a:xfrm>
              <a:prstGeom prst="rect">
                <a:avLst/>
              </a:prstGeom>
              <a:blipFill>
                <a:blip r:embed="rId11"/>
                <a:stretch>
                  <a:fillRect b="-2446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TextBox 115"/>
              <p:cNvSpPr txBox="1"/>
              <p:nvPr/>
            </p:nvSpPr>
            <p:spPr>
              <a:xfrm>
                <a:off x="10665268" y="181074"/>
                <a:ext cx="597207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/>
                      </m:sSubSup>
                    </m:oMath>
                  </m:oMathPara>
                </a14:m>
                <a:endParaRPr lang="en-IN" sz="32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6" name="TextBox 1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5268" y="181074"/>
                <a:ext cx="597207" cy="573427"/>
              </a:xfrm>
              <a:prstGeom prst="rect">
                <a:avLst/>
              </a:prstGeom>
              <a:blipFill>
                <a:blip r:embed="rId12"/>
                <a:stretch>
                  <a:fillRect b="-2446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7" name="Rectangle 116"/>
          <p:cNvSpPr/>
          <p:nvPr/>
        </p:nvSpPr>
        <p:spPr>
          <a:xfrm>
            <a:off x="8720313" y="401751"/>
            <a:ext cx="960171" cy="2352866"/>
          </a:xfrm>
          <a:prstGeom prst="rect">
            <a:avLst/>
          </a:prstGeom>
          <a:noFill/>
          <a:ln w="22225">
            <a:solidFill>
              <a:schemeClr val="accent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8" name="Rectangle 117"/>
          <p:cNvSpPr/>
          <p:nvPr/>
        </p:nvSpPr>
        <p:spPr>
          <a:xfrm>
            <a:off x="9745014" y="405261"/>
            <a:ext cx="960171" cy="2352866"/>
          </a:xfrm>
          <a:prstGeom prst="rect">
            <a:avLst/>
          </a:prstGeom>
          <a:noFill/>
          <a:ln w="22225">
            <a:solidFill>
              <a:schemeClr val="accent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9" name="TextBox 118"/>
          <p:cNvSpPr txBox="1"/>
          <p:nvPr/>
        </p:nvSpPr>
        <p:spPr>
          <a:xfrm>
            <a:off x="8524828" y="2645461"/>
            <a:ext cx="13284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 nm</a:t>
            </a:r>
            <a:endParaRPr lang="en-IN" sz="28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9658413" y="2639714"/>
            <a:ext cx="14814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1064 nm</a:t>
            </a:r>
            <a:endParaRPr lang="en-IN" sz="28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3" name="TextBox 122"/>
          <p:cNvSpPr txBox="1"/>
          <p:nvPr/>
        </p:nvSpPr>
        <p:spPr>
          <a:xfrm>
            <a:off x="11001780" y="429461"/>
            <a:ext cx="13674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Visible emission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4" name="TextBox 123"/>
          <p:cNvSpPr txBox="1"/>
          <p:nvPr/>
        </p:nvSpPr>
        <p:spPr>
          <a:xfrm rot="16200000">
            <a:off x="5650183" y="1274388"/>
            <a:ext cx="1670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 change, S (%) </a:t>
            </a:r>
          </a:p>
        </p:txBody>
      </p:sp>
      <p:cxnSp>
        <p:nvCxnSpPr>
          <p:cNvPr id="125" name="Straight Connector 124"/>
          <p:cNvCxnSpPr/>
          <p:nvPr/>
        </p:nvCxnSpPr>
        <p:spPr>
          <a:xfrm>
            <a:off x="8354127" y="3810870"/>
            <a:ext cx="2447492" cy="12983"/>
          </a:xfrm>
          <a:prstGeom prst="line">
            <a:avLst/>
          </a:prstGeom>
          <a:ln w="762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/>
          <p:cNvCxnSpPr/>
          <p:nvPr/>
        </p:nvCxnSpPr>
        <p:spPr>
          <a:xfrm flipV="1">
            <a:off x="8348270" y="5897130"/>
            <a:ext cx="2453351" cy="10583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/>
          <p:cNvCxnSpPr/>
          <p:nvPr/>
        </p:nvCxnSpPr>
        <p:spPr>
          <a:xfrm>
            <a:off x="8337017" y="4842425"/>
            <a:ext cx="2464602" cy="18064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Arc 127"/>
          <p:cNvSpPr/>
          <p:nvPr/>
        </p:nvSpPr>
        <p:spPr>
          <a:xfrm rot="18990667" flipH="1">
            <a:off x="8776324" y="4764388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44450">
            <a:solidFill>
              <a:srgbClr val="C3137C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9" name="Arc 128"/>
          <p:cNvSpPr/>
          <p:nvPr/>
        </p:nvSpPr>
        <p:spPr>
          <a:xfrm rot="18990667" flipH="1">
            <a:off x="8812546" y="3728068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31750">
            <a:solidFill>
              <a:srgbClr val="C3137C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0" name="Arc 129"/>
          <p:cNvSpPr/>
          <p:nvPr/>
        </p:nvSpPr>
        <p:spPr>
          <a:xfrm rot="8238481" flipH="1">
            <a:off x="7980041" y="4711594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28575">
            <a:solidFill>
              <a:srgbClr val="EC38A3">
                <a:alpha val="85000"/>
              </a:srgbClr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1" name="Arc 130"/>
          <p:cNvSpPr/>
          <p:nvPr/>
        </p:nvSpPr>
        <p:spPr>
          <a:xfrm rot="8238481" flipH="1">
            <a:off x="8587334" y="3427755"/>
            <a:ext cx="2530571" cy="2724128"/>
          </a:xfrm>
          <a:prstGeom prst="arc">
            <a:avLst>
              <a:gd name="adj1" fmla="val 15976505"/>
              <a:gd name="adj2" fmla="val 211274"/>
            </a:avLst>
          </a:prstGeom>
          <a:ln w="38100">
            <a:solidFill>
              <a:srgbClr val="FF0000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2" name="Arc 131"/>
          <p:cNvSpPr/>
          <p:nvPr/>
        </p:nvSpPr>
        <p:spPr>
          <a:xfrm rot="18990667" flipH="1">
            <a:off x="9786469" y="4764388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34925">
            <a:solidFill>
              <a:srgbClr val="F250DB">
                <a:alpha val="74000"/>
              </a:srgbClr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3" name="Arc 132"/>
          <p:cNvSpPr/>
          <p:nvPr/>
        </p:nvSpPr>
        <p:spPr>
          <a:xfrm rot="18990667" flipH="1">
            <a:off x="9822691" y="3728068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25400">
            <a:solidFill>
              <a:srgbClr val="F250DB">
                <a:alpha val="68000"/>
              </a:srgbClr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4" name="Arc 133"/>
          <p:cNvSpPr/>
          <p:nvPr/>
        </p:nvSpPr>
        <p:spPr>
          <a:xfrm rot="8238481" flipH="1">
            <a:off x="8990185" y="4722174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34925">
            <a:solidFill>
              <a:srgbClr val="EC38A3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5" name="TextBox 134"/>
          <p:cNvSpPr txBox="1"/>
          <p:nvPr/>
        </p:nvSpPr>
        <p:spPr>
          <a:xfrm>
            <a:off x="7989577" y="3573362"/>
            <a:ext cx="597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24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7983293" y="4604595"/>
            <a:ext cx="597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24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7" name="TextBox 136"/>
          <p:cNvSpPr txBox="1"/>
          <p:nvPr/>
        </p:nvSpPr>
        <p:spPr>
          <a:xfrm>
            <a:off x="7982209" y="5665149"/>
            <a:ext cx="597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24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137"/>
              <p:cNvSpPr txBox="1"/>
              <p:nvPr/>
            </p:nvSpPr>
            <p:spPr>
              <a:xfrm>
                <a:off x="8347651" y="5130787"/>
                <a:ext cx="597207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baseline="-25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8" name="TextBox 1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7651" y="5130787"/>
                <a:ext cx="597207" cy="573427"/>
              </a:xfrm>
              <a:prstGeom prst="rect">
                <a:avLst/>
              </a:prstGeom>
              <a:blipFill>
                <a:blip r:embed="rId13"/>
                <a:stretch>
                  <a:fillRect b="-2446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138"/>
              <p:cNvSpPr txBox="1"/>
              <p:nvPr/>
            </p:nvSpPr>
            <p:spPr>
              <a:xfrm>
                <a:off x="8351813" y="4066414"/>
                <a:ext cx="597207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IN" sz="32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9" name="TextBox 1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1813" y="4066414"/>
                <a:ext cx="597207" cy="573427"/>
              </a:xfrm>
              <a:prstGeom prst="rect">
                <a:avLst/>
              </a:prstGeom>
              <a:blipFill>
                <a:blip r:embed="rId14"/>
                <a:stretch>
                  <a:fillRect b="-2446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139"/>
              <p:cNvSpPr txBox="1"/>
              <p:nvPr/>
            </p:nvSpPr>
            <p:spPr>
              <a:xfrm>
                <a:off x="9390033" y="4079524"/>
                <a:ext cx="597207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IN" sz="32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0" name="TextBox 1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0033" y="4079524"/>
                <a:ext cx="597207" cy="573427"/>
              </a:xfrm>
              <a:prstGeom prst="rect">
                <a:avLst/>
              </a:prstGeom>
              <a:blipFill>
                <a:blip r:embed="rId15"/>
                <a:stretch>
                  <a:fillRect b="-2446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140"/>
              <p:cNvSpPr txBox="1"/>
              <p:nvPr/>
            </p:nvSpPr>
            <p:spPr>
              <a:xfrm>
                <a:off x="9432565" y="5120104"/>
                <a:ext cx="597207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/>
                      </m:sSubSup>
                    </m:oMath>
                  </m:oMathPara>
                </a14:m>
                <a:endParaRPr lang="en-IN" sz="32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1" name="TextBox 1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2565" y="5120104"/>
                <a:ext cx="597207" cy="573427"/>
              </a:xfrm>
              <a:prstGeom prst="rect">
                <a:avLst/>
              </a:prstGeom>
              <a:blipFill>
                <a:blip r:embed="rId16"/>
                <a:stretch>
                  <a:fillRect b="-2446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Box 141"/>
              <p:cNvSpPr txBox="1"/>
              <p:nvPr/>
            </p:nvSpPr>
            <p:spPr>
              <a:xfrm>
                <a:off x="9132527" y="4422611"/>
                <a:ext cx="597207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/>
                      </m:sSubSup>
                    </m:oMath>
                  </m:oMathPara>
                </a14:m>
                <a:endParaRPr lang="en-IN" sz="32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2" name="TextBox 1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2527" y="4422611"/>
                <a:ext cx="597207" cy="573427"/>
              </a:xfrm>
              <a:prstGeom prst="rect">
                <a:avLst/>
              </a:prstGeom>
              <a:blipFill>
                <a:blip r:embed="rId17"/>
                <a:stretch>
                  <a:fillRect b="-2315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3" name="TextBox 142"/>
              <p:cNvSpPr txBox="1"/>
              <p:nvPr/>
            </p:nvSpPr>
            <p:spPr>
              <a:xfrm>
                <a:off x="10132039" y="4427867"/>
                <a:ext cx="597207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/>
                      </m:sSubSup>
                    </m:oMath>
                  </m:oMathPara>
                </a14:m>
                <a:endParaRPr lang="en-IN" sz="32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3" name="TextBox 1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2039" y="4427867"/>
                <a:ext cx="597207" cy="573427"/>
              </a:xfrm>
              <a:prstGeom prst="rect">
                <a:avLst/>
              </a:prstGeom>
              <a:blipFill>
                <a:blip r:embed="rId18"/>
                <a:stretch>
                  <a:fillRect b="-2446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4" name="Arc 143"/>
          <p:cNvSpPr/>
          <p:nvPr/>
        </p:nvSpPr>
        <p:spPr>
          <a:xfrm rot="8238481" flipH="1">
            <a:off x="9584579" y="4825109"/>
            <a:ext cx="1150546" cy="1137418"/>
          </a:xfrm>
          <a:prstGeom prst="arc">
            <a:avLst>
              <a:gd name="adj1" fmla="val 15821220"/>
              <a:gd name="adj2" fmla="val 696015"/>
            </a:avLst>
          </a:prstGeom>
          <a:ln w="38100">
            <a:solidFill>
              <a:schemeClr val="bg1">
                <a:lumMod val="65000"/>
              </a:schemeClr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TextBox 144"/>
              <p:cNvSpPr txBox="1"/>
              <p:nvPr/>
            </p:nvSpPr>
            <p:spPr>
              <a:xfrm>
                <a:off x="10603941" y="4490571"/>
                <a:ext cx="605615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/>
                      </m:sSubSup>
                    </m:oMath>
                  </m:oMathPara>
                </a14:m>
                <a:endParaRPr lang="en-IN" sz="32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5" name="TextBox 1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3941" y="4490571"/>
                <a:ext cx="605615" cy="573427"/>
              </a:xfrm>
              <a:prstGeom prst="rect">
                <a:avLst/>
              </a:prstGeom>
              <a:blipFill>
                <a:blip r:embed="rId19"/>
                <a:stretch>
                  <a:fillRect b="-2446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TextBox 145"/>
              <p:cNvSpPr txBox="1"/>
              <p:nvPr/>
            </p:nvSpPr>
            <p:spPr>
              <a:xfrm>
                <a:off x="10434896" y="3459456"/>
                <a:ext cx="597207" cy="57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3200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/>
                      </m:sSubSup>
                    </m:oMath>
                  </m:oMathPara>
                </a14:m>
                <a:endParaRPr lang="en-IN" sz="32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6" name="TextBox 1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4896" y="3459456"/>
                <a:ext cx="597207" cy="573427"/>
              </a:xfrm>
              <a:prstGeom prst="rect">
                <a:avLst/>
              </a:prstGeom>
              <a:blipFill>
                <a:blip r:embed="rId20"/>
                <a:stretch>
                  <a:fillRect b="-2315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7" name="Rectangle 146"/>
          <p:cNvSpPr/>
          <p:nvPr/>
        </p:nvSpPr>
        <p:spPr>
          <a:xfrm>
            <a:off x="8489941" y="3680133"/>
            <a:ext cx="960171" cy="2352866"/>
          </a:xfrm>
          <a:prstGeom prst="rect">
            <a:avLst/>
          </a:prstGeom>
          <a:noFill/>
          <a:ln w="22225">
            <a:solidFill>
              <a:schemeClr val="accent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8" name="Rectangle 147"/>
          <p:cNvSpPr/>
          <p:nvPr/>
        </p:nvSpPr>
        <p:spPr>
          <a:xfrm>
            <a:off x="9514642" y="3683643"/>
            <a:ext cx="960171" cy="2352866"/>
          </a:xfrm>
          <a:prstGeom prst="rect">
            <a:avLst/>
          </a:prstGeom>
          <a:noFill/>
          <a:ln w="22225">
            <a:solidFill>
              <a:schemeClr val="accent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9" name="TextBox 148"/>
          <p:cNvSpPr txBox="1"/>
          <p:nvPr/>
        </p:nvSpPr>
        <p:spPr>
          <a:xfrm>
            <a:off x="8294456" y="5923843"/>
            <a:ext cx="13284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 nm</a:t>
            </a:r>
            <a:endParaRPr lang="en-IN" sz="28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TextBox 149"/>
          <p:cNvSpPr txBox="1"/>
          <p:nvPr/>
        </p:nvSpPr>
        <p:spPr>
          <a:xfrm>
            <a:off x="9428041" y="5918096"/>
            <a:ext cx="14814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1064 nm</a:t>
            </a:r>
            <a:endParaRPr lang="en-IN" sz="28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66587" y="239365"/>
            <a:ext cx="1356659" cy="1263938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06242" y="3519542"/>
            <a:ext cx="6559865" cy="3133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5507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49" t="12000" r="9488" b="9538"/>
          <a:stretch/>
        </p:blipFill>
        <p:spPr>
          <a:xfrm>
            <a:off x="5227786" y="347514"/>
            <a:ext cx="3001819" cy="237721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22" t="13988" r="9148" b="11275"/>
          <a:stretch/>
        </p:blipFill>
        <p:spPr>
          <a:xfrm>
            <a:off x="5240610" y="3112660"/>
            <a:ext cx="3111715" cy="23090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40170" y="3165602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8778" y="264945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6736" y="525361"/>
            <a:ext cx="5350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4698" y="175702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111" y="2824001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8" name="TextBox 17"/>
          <p:cNvSpPr txBox="1"/>
          <p:nvPr/>
        </p:nvSpPr>
        <p:spPr>
          <a:xfrm rot="16200000">
            <a:off x="330606" y="4006344"/>
            <a:ext cx="1670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 change, S (%)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6590" y="1037940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8671" y="1544016"/>
            <a:ext cx="546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8408" y="2054323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6404" y="264945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0426" y="264945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4448" y="264247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88470" y="264945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666" y="2648434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96514" y="2642477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1827" y="264247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09526" y="2803338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1064 nm laser power (mW)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5646" y="3515317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42212" y="3840140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42211" y="4181831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42210" y="4512963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48943" y="4844095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465" y="5170760"/>
            <a:ext cx="5143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31598" y="5316841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38673" y="532381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47775" y="532381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51797" y="5321924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36769" y="532508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40585" y="532407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33383" y="5321923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48835" y="5321921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51377" y="5488003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 nm laser power (mW)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64972" y="263019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61887" y="2637175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65909" y="2637175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69931" y="2630201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85383" y="2633365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189199" y="2632347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81997" y="263020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99991" y="2796280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 nm laser power (mW)</a:t>
            </a:r>
          </a:p>
        </p:txBody>
      </p:sp>
      <p:sp>
        <p:nvSpPr>
          <p:cNvPr id="80" name="TextBox 79"/>
          <p:cNvSpPr txBox="1"/>
          <p:nvPr/>
        </p:nvSpPr>
        <p:spPr>
          <a:xfrm rot="16200000">
            <a:off x="3632719" y="1359468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1064 nm laser power (mW)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971234" y="220454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971234" y="1849879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975353" y="149751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971234" y="115770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71234" y="817894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971235" y="47808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139193" y="2252294"/>
            <a:ext cx="6324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139193" y="1779163"/>
            <a:ext cx="6324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39193" y="1314450"/>
            <a:ext cx="6324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139193" y="817894"/>
            <a:ext cx="6324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39193" y="344763"/>
            <a:ext cx="6324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92" name="TextBox 91"/>
          <p:cNvSpPr txBox="1"/>
          <p:nvPr/>
        </p:nvSpPr>
        <p:spPr>
          <a:xfrm rot="16200000">
            <a:off x="331878" y="1317909"/>
            <a:ext cx="16628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 change, S (%)</a:t>
            </a:r>
          </a:p>
        </p:txBody>
      </p:sp>
      <p:sp>
        <p:nvSpPr>
          <p:cNvPr id="93" name="TextBox 92"/>
          <p:cNvSpPr txBox="1"/>
          <p:nvPr/>
        </p:nvSpPr>
        <p:spPr>
          <a:xfrm rot="16200000">
            <a:off x="7646356" y="1193092"/>
            <a:ext cx="19119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 change, S (%)</a:t>
            </a:r>
          </a:p>
        </p:txBody>
      </p:sp>
      <p:sp>
        <p:nvSpPr>
          <p:cNvPr id="94" name="TextBox 93"/>
          <p:cNvSpPr txBox="1"/>
          <p:nvPr/>
        </p:nvSpPr>
        <p:spPr>
          <a:xfrm rot="16200000">
            <a:off x="4085013" y="4042135"/>
            <a:ext cx="1741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 change, S (%) 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845064" y="5488003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Power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1064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081034" y="3220415"/>
            <a:ext cx="5350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942175" y="3699424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93418" y="4225160"/>
            <a:ext cx="546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948435" y="4715197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199433" y="5318111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739487" y="531159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79541" y="5311597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827225" y="5311597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351990" y="531159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912829" y="5311597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708484" y="2858796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708483" y="109100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63419" y="3631798"/>
            <a:ext cx="15719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Slope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- 0.022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629356" y="4551503"/>
            <a:ext cx="1600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Slope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- 0.012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726269" y="3634429"/>
            <a:ext cx="1394971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5" name="Rectangle 114"/>
          <p:cNvSpPr/>
          <p:nvPr/>
        </p:nvSpPr>
        <p:spPr>
          <a:xfrm>
            <a:off x="6692884" y="4551503"/>
            <a:ext cx="1394971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78" name="Picture 77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15" t="14257" r="9123" b="11388"/>
          <a:stretch/>
        </p:blipFill>
        <p:spPr>
          <a:xfrm>
            <a:off x="1533237" y="380567"/>
            <a:ext cx="3176619" cy="2347168"/>
          </a:xfrm>
          <a:prstGeom prst="rect">
            <a:avLst/>
          </a:prstGeom>
        </p:spPr>
      </p:pic>
      <p:pic>
        <p:nvPicPr>
          <p:cNvPr id="79" name="Picture 78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34" t="14854" r="9383" b="11726"/>
          <a:stretch/>
        </p:blipFill>
        <p:spPr>
          <a:xfrm>
            <a:off x="1559770" y="3089624"/>
            <a:ext cx="3139440" cy="23097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/>
              <p:cNvSpPr txBox="1"/>
              <p:nvPr/>
            </p:nvSpPr>
            <p:spPr>
              <a:xfrm>
                <a:off x="2633144" y="4947865"/>
                <a:ext cx="1463998" cy="368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IN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IN" sz="16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IN" sz="1600">
                            <a:latin typeface="Cambria Math" panose="02040503050406030204" pitchFamily="18" charset="0"/>
                          </a:rPr>
                          <m:t>frac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IN" sz="1600">
                            <a:latin typeface="Cambria Math" panose="02040503050406030204" pitchFamily="18" charset="0"/>
                          </a:rPr>
                          <m:t>abs</m:t>
                        </m:r>
                      </m:sup>
                    </m:sSubSup>
                  </m:oMath>
                </a14:m>
                <a:r>
                  <a:rPr lang="en-I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 0.396</a:t>
                </a:r>
              </a:p>
            </p:txBody>
          </p:sp>
        </mc:Choice>
        <mc:Fallback xmlns="">
          <p:sp>
            <p:nvSpPr>
              <p:cNvPr id="96" name="TextBox 9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3144" y="4947865"/>
                <a:ext cx="1463998" cy="368434"/>
              </a:xfrm>
              <a:prstGeom prst="rect">
                <a:avLst/>
              </a:prstGeom>
              <a:blipFill>
                <a:blip r:embed="rId6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112"/>
              <p:cNvSpPr txBox="1"/>
              <p:nvPr/>
            </p:nvSpPr>
            <p:spPr>
              <a:xfrm>
                <a:off x="2631349" y="2270845"/>
                <a:ext cx="1469546" cy="368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IN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IN" sz="16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IN" sz="1600">
                            <a:latin typeface="Cambria Math" panose="02040503050406030204" pitchFamily="18" charset="0"/>
                          </a:rPr>
                          <m:t>frac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IN" sz="1600">
                            <a:latin typeface="Cambria Math" panose="02040503050406030204" pitchFamily="18" charset="0"/>
                          </a:rPr>
                          <m:t>abs</m:t>
                        </m:r>
                      </m:sup>
                    </m:sSubSup>
                  </m:oMath>
                </a14:m>
                <a:r>
                  <a:rPr lang="en-I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 0.796</a:t>
                </a:r>
              </a:p>
            </p:txBody>
          </p:sp>
        </mc:Choice>
        <mc:Fallback xmlns="">
          <p:sp>
            <p:nvSpPr>
              <p:cNvPr id="113" name="TextBox 1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1349" y="2270845"/>
                <a:ext cx="1469546" cy="368434"/>
              </a:xfrm>
              <a:prstGeom prst="rect">
                <a:avLst/>
              </a:prstGeom>
              <a:blipFill>
                <a:blip r:embed="rId7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4" name="Rectangle 113"/>
          <p:cNvSpPr/>
          <p:nvPr/>
        </p:nvSpPr>
        <p:spPr>
          <a:xfrm>
            <a:off x="2609254" y="4990712"/>
            <a:ext cx="1342565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6" name="Rectangle 115"/>
          <p:cNvSpPr/>
          <p:nvPr/>
        </p:nvSpPr>
        <p:spPr>
          <a:xfrm>
            <a:off x="2603733" y="2315910"/>
            <a:ext cx="1342565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65601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22" t="13988" r="9148" b="11275"/>
          <a:stretch/>
        </p:blipFill>
        <p:spPr>
          <a:xfrm>
            <a:off x="8332543" y="369456"/>
            <a:ext cx="3161507" cy="2346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636897" y="468584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68778" y="264945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66736" y="525361"/>
            <a:ext cx="5350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57498" y="92574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32170" y="90037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6590" y="1037940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8671" y="1544016"/>
            <a:ext cx="546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8408" y="2054323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76404" y="264945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80426" y="264945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4448" y="264247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88470" y="264945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666" y="2648434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96514" y="2642477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1827" y="264247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9526" y="2803338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1064 nm laser power (mW)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72373" y="818299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38939" y="1143122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8938" y="1484813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38937" y="1815945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5670" y="2147077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3192" y="2473742"/>
            <a:ext cx="5143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8325" y="2619823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35400" y="262680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4502" y="262680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8524" y="262490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33496" y="262807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37312" y="262705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30110" y="2624905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45562" y="2624903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89856" y="2800222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 nm laser power (mW)</a:t>
            </a:r>
          </a:p>
        </p:txBody>
      </p:sp>
      <p:sp>
        <p:nvSpPr>
          <p:cNvPr id="56" name="TextBox 55"/>
          <p:cNvSpPr txBox="1"/>
          <p:nvPr/>
        </p:nvSpPr>
        <p:spPr>
          <a:xfrm rot="16200000">
            <a:off x="331878" y="1317909"/>
            <a:ext cx="16628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 change, S (%)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84776" y="2794807"/>
            <a:ext cx="1915734" cy="343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Power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72965" y="481527"/>
            <a:ext cx="538134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34107" y="983934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85351" y="1513980"/>
            <a:ext cx="549269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40367" y="1999707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91366" y="2606931"/>
            <a:ext cx="369285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49892" y="2609654"/>
            <a:ext cx="369285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89946" y="2609653"/>
            <a:ext cx="369285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37630" y="2609653"/>
            <a:ext cx="369285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62395" y="2609652"/>
            <a:ext cx="369285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023234" y="2609653"/>
            <a:ext cx="369285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134761" y="91709"/>
            <a:ext cx="453685" cy="343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55352" y="920129"/>
            <a:ext cx="1581088" cy="343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Slope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- 0.022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721289" y="1839834"/>
            <a:ext cx="1609543" cy="343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Slope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- 0.012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818202" y="922938"/>
            <a:ext cx="1403073" cy="332623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5" name="Rectangle 74"/>
          <p:cNvSpPr/>
          <p:nvPr/>
        </p:nvSpPr>
        <p:spPr>
          <a:xfrm>
            <a:off x="9784817" y="1840012"/>
            <a:ext cx="1403073" cy="332623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76" name="Picture 7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15" t="14257" r="9123" b="11388"/>
          <a:stretch/>
        </p:blipFill>
        <p:spPr>
          <a:xfrm>
            <a:off x="1533237" y="380567"/>
            <a:ext cx="3176619" cy="2347168"/>
          </a:xfrm>
          <a:prstGeom prst="rect">
            <a:avLst/>
          </a:prstGeom>
        </p:spPr>
      </p:pic>
      <p:pic>
        <p:nvPicPr>
          <p:cNvPr id="77" name="Picture 76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34" t="14854" r="9383" b="11726"/>
          <a:stretch/>
        </p:blipFill>
        <p:spPr>
          <a:xfrm>
            <a:off x="4956497" y="392606"/>
            <a:ext cx="3139440" cy="23097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6029871" y="2250847"/>
                <a:ext cx="1463998" cy="368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IN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IN" sz="16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IN" sz="1600">
                            <a:latin typeface="Cambria Math" panose="02040503050406030204" pitchFamily="18" charset="0"/>
                          </a:rPr>
                          <m:t>frac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IN" sz="1600">
                            <a:latin typeface="Cambria Math" panose="02040503050406030204" pitchFamily="18" charset="0"/>
                          </a:rPr>
                          <m:t>abs</m:t>
                        </m:r>
                      </m:sup>
                    </m:sSubSup>
                  </m:oMath>
                </a14:m>
                <a:r>
                  <a:rPr lang="en-I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 0.396</a:t>
                </a:r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9871" y="2250847"/>
                <a:ext cx="1463998" cy="368434"/>
              </a:xfrm>
              <a:prstGeom prst="rect">
                <a:avLst/>
              </a:prstGeom>
              <a:blipFill>
                <a:blip r:embed="rId5"/>
                <a:stretch>
                  <a:fillRect b="-1803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/>
              <p:cNvSpPr txBox="1"/>
              <p:nvPr/>
            </p:nvSpPr>
            <p:spPr>
              <a:xfrm>
                <a:off x="2631349" y="2270845"/>
                <a:ext cx="1469546" cy="368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IN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IN" sz="16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IN" sz="1600">
                            <a:latin typeface="Cambria Math" panose="02040503050406030204" pitchFamily="18" charset="0"/>
                          </a:rPr>
                          <m:t>frac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IN" sz="1600">
                            <a:latin typeface="Cambria Math" panose="02040503050406030204" pitchFamily="18" charset="0"/>
                          </a:rPr>
                          <m:t>abs</m:t>
                        </m:r>
                      </m:sup>
                    </m:sSubSup>
                  </m:oMath>
                </a14:m>
                <a:r>
                  <a:rPr lang="en-I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 0.796</a:t>
                </a:r>
              </a:p>
            </p:txBody>
          </p:sp>
        </mc:Choice>
        <mc:Fallback xmlns="">
          <p:sp>
            <p:nvSpPr>
              <p:cNvPr id="79" name="TextBox 7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1349" y="2270845"/>
                <a:ext cx="1469546" cy="368434"/>
              </a:xfrm>
              <a:prstGeom prst="rect">
                <a:avLst/>
              </a:prstGeom>
              <a:blipFill>
                <a:blip r:embed="rId6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" name="Rectangle 79"/>
          <p:cNvSpPr/>
          <p:nvPr/>
        </p:nvSpPr>
        <p:spPr>
          <a:xfrm>
            <a:off x="6005981" y="2293694"/>
            <a:ext cx="1342565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1" name="Rectangle 80"/>
          <p:cNvSpPr/>
          <p:nvPr/>
        </p:nvSpPr>
        <p:spPr>
          <a:xfrm>
            <a:off x="2603733" y="2315910"/>
            <a:ext cx="1342565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98649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32" t="11043" r="5556" b="12458"/>
          <a:stretch/>
        </p:blipFill>
        <p:spPr>
          <a:xfrm>
            <a:off x="1829262" y="923180"/>
            <a:ext cx="3219592" cy="227453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86984" y="105747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86984" y="134564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6984" y="1645903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6984" y="195071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1800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6984" y="223584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4878" y="2832993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8561" y="309667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09425" y="310318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0393" y="310203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519" y="310290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6389" y="309667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1813" y="3096671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</a:p>
        </p:txBody>
      </p:sp>
      <p:sp>
        <p:nvSpPr>
          <p:cNvPr id="16" name="TextBox 15"/>
          <p:cNvSpPr txBox="1"/>
          <p:nvPr/>
        </p:nvSpPr>
        <p:spPr>
          <a:xfrm rot="16200000">
            <a:off x="153771" y="1890719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5689" y="3251537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2119746" y="1031847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>
            <a:off x="3830446" y="1031847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309737" y="877960"/>
            <a:ext cx="1571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1829262" y="2818307"/>
                <a:ext cx="164286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0.15 ± 0.19 ms</a:t>
                </a:r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9262" y="2818307"/>
                <a:ext cx="1642862" cy="307777"/>
              </a:xfrm>
              <a:prstGeom prst="rect">
                <a:avLst/>
              </a:prstGeom>
              <a:blipFill>
                <a:blip r:embed="rId3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/>
          <p:cNvSpPr/>
          <p:nvPr/>
        </p:nvSpPr>
        <p:spPr>
          <a:xfrm>
            <a:off x="1895657" y="2849612"/>
            <a:ext cx="1503326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3" name="TextBox 22"/>
          <p:cNvSpPr txBox="1"/>
          <p:nvPr/>
        </p:nvSpPr>
        <p:spPr>
          <a:xfrm>
            <a:off x="4041776" y="879303"/>
            <a:ext cx="1104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81266" y="2849168"/>
            <a:ext cx="1503326" cy="262915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3398983" y="2814580"/>
                <a:ext cx="174498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3.65 ± 0.86 ms</a:t>
                </a: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8983" y="2814580"/>
                <a:ext cx="1744980" cy="307777"/>
              </a:xfrm>
              <a:prstGeom prst="rect">
                <a:avLst/>
              </a:prstGeom>
              <a:blipFill>
                <a:blip r:embed="rId4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/>
          <p:cNvSpPr txBox="1"/>
          <p:nvPr/>
        </p:nvSpPr>
        <p:spPr>
          <a:xfrm>
            <a:off x="1221063" y="65830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6984" y="253692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1600</a:t>
            </a:r>
          </a:p>
        </p:txBody>
      </p:sp>
      <p:sp>
        <p:nvSpPr>
          <p:cNvPr id="33" name="TextBox 32"/>
          <p:cNvSpPr txBox="1"/>
          <p:nvPr/>
        </p:nvSpPr>
        <p:spPr>
          <a:xfrm rot="16200000">
            <a:off x="4350928" y="1817683"/>
            <a:ext cx="1741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 change, S (%)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8739" y="3251537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Power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1064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12806" y="958962"/>
            <a:ext cx="5350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69033" y="1384953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69035" y="1814859"/>
            <a:ext cx="546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66823" y="2679104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24243" y="3104687"/>
            <a:ext cx="6456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32579" y="658262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pic>
        <p:nvPicPr>
          <p:cNvPr id="50" name="Picture 49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62" t="14686" r="9228" b="11841"/>
          <a:stretch/>
        </p:blipFill>
        <p:spPr>
          <a:xfrm>
            <a:off x="5592535" y="923180"/>
            <a:ext cx="3093596" cy="226573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268741" y="3108863"/>
            <a:ext cx="6456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99536" y="3104574"/>
            <a:ext cx="6456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0.009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48617" y="3104991"/>
            <a:ext cx="7910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81567" y="3103184"/>
            <a:ext cx="7910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69035" y="2242756"/>
            <a:ext cx="546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8532" y="2181844"/>
            <a:ext cx="16621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Slope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7538.13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4380" y="2187429"/>
            <a:ext cx="1490484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7" name="TextBox 46"/>
          <p:cNvSpPr txBox="1"/>
          <p:nvPr/>
        </p:nvSpPr>
        <p:spPr>
          <a:xfrm>
            <a:off x="6987003" y="1406095"/>
            <a:ext cx="1600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Slope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597.32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50531" y="1406095"/>
            <a:ext cx="1394971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04099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/>
          <p:cNvSpPr txBox="1"/>
          <p:nvPr/>
        </p:nvSpPr>
        <p:spPr>
          <a:xfrm rot="16200000">
            <a:off x="-997317" y="1209247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1" t="7950" r="5728" b="5319"/>
          <a:stretch/>
        </p:blipFill>
        <p:spPr>
          <a:xfrm>
            <a:off x="387022" y="259332"/>
            <a:ext cx="3359641" cy="2476613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396675" y="375153"/>
            <a:ext cx="1182624" cy="3657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1" name="Straight Connector 20"/>
          <p:cNvCxnSpPr/>
          <p:nvPr/>
        </p:nvCxnSpPr>
        <p:spPr>
          <a:xfrm>
            <a:off x="1906328" y="460497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1916107" y="677648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094412" y="306610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6468" y="523761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1536" y="306610"/>
            <a:ext cx="201304" cy="22385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TextBox 25"/>
          <p:cNvSpPr txBox="1"/>
          <p:nvPr/>
        </p:nvSpPr>
        <p:spPr>
          <a:xfrm>
            <a:off x="420830" y="2275682"/>
            <a:ext cx="2013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0441" y="1889857"/>
            <a:ext cx="499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3532" y="1517453"/>
            <a:ext cx="4965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3530" y="1139287"/>
            <a:ext cx="4723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336" y="755697"/>
            <a:ext cx="486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3078" y="373376"/>
            <a:ext cx="502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/>
              <p:cNvSpPr txBox="1"/>
              <p:nvPr/>
            </p:nvSpPr>
            <p:spPr>
              <a:xfrm>
                <a:off x="1891713" y="816916"/>
                <a:ext cx="240407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975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0.19 ± 0.001 ms</a:t>
                </a:r>
              </a:p>
            </p:txBody>
          </p:sp>
        </mc:Choice>
        <mc:Fallback xmlns=""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1713" y="816916"/>
                <a:ext cx="2404079" cy="307777"/>
              </a:xfrm>
              <a:prstGeom prst="rect">
                <a:avLst/>
              </a:prstGeom>
              <a:blipFill>
                <a:blip r:embed="rId3"/>
                <a:stretch>
                  <a:fillRect t="-4000" b="-22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/>
          <p:cNvSpPr/>
          <p:nvPr/>
        </p:nvSpPr>
        <p:spPr>
          <a:xfrm>
            <a:off x="1910293" y="815749"/>
            <a:ext cx="1746301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4" name="TextBox 33"/>
          <p:cNvSpPr txBox="1"/>
          <p:nvPr/>
        </p:nvSpPr>
        <p:spPr>
          <a:xfrm>
            <a:off x="3377281" y="-14287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</a:p>
        </p:txBody>
      </p:sp>
      <p:pic>
        <p:nvPicPr>
          <p:cNvPr id="61" name="Picture 60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26" t="7225" r="5771" b="5319"/>
          <a:stretch/>
        </p:blipFill>
        <p:spPr>
          <a:xfrm>
            <a:off x="3805968" y="245328"/>
            <a:ext cx="3318116" cy="2476614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5804575" y="361152"/>
            <a:ext cx="1182624" cy="3657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3" name="Straight Connector 62"/>
          <p:cNvCxnSpPr/>
          <p:nvPr/>
        </p:nvCxnSpPr>
        <p:spPr>
          <a:xfrm>
            <a:off x="5284129" y="446496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5295813" y="663647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474118" y="292609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86174" y="509760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766987" y="245328"/>
            <a:ext cx="224790" cy="23606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8" name="TextBox 67"/>
          <p:cNvSpPr txBox="1"/>
          <p:nvPr/>
        </p:nvSpPr>
        <p:spPr>
          <a:xfrm>
            <a:off x="3816144" y="2315149"/>
            <a:ext cx="2013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36617" y="1971969"/>
            <a:ext cx="4088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736843" y="1625119"/>
            <a:ext cx="4088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736617" y="1263696"/>
            <a:ext cx="4088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40318" y="908908"/>
            <a:ext cx="368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49166" y="563567"/>
            <a:ext cx="486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49166" y="197929"/>
            <a:ext cx="502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883983" y="2569456"/>
            <a:ext cx="2837074" cy="1524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6" name="TextBox 75"/>
          <p:cNvSpPr txBox="1"/>
          <p:nvPr/>
        </p:nvSpPr>
        <p:spPr>
          <a:xfrm>
            <a:off x="3888838" y="2457335"/>
            <a:ext cx="196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30634" y="2452117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050022" y="2457334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47089" y="2457333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57023" y="2457332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76411" y="2456186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/>
              <p:cNvSpPr txBox="1"/>
              <p:nvPr/>
            </p:nvSpPr>
            <p:spPr>
              <a:xfrm>
                <a:off x="5295431" y="802860"/>
                <a:ext cx="188137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1064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0.28 ± 0.01 ms</a:t>
                </a:r>
              </a:p>
            </p:txBody>
          </p:sp>
        </mc:Choice>
        <mc:Fallback xmlns="">
          <p:sp>
            <p:nvSpPr>
              <p:cNvPr id="82" name="TextBox 8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5431" y="802860"/>
                <a:ext cx="1881376" cy="307777"/>
              </a:xfrm>
              <a:prstGeom prst="rect">
                <a:avLst/>
              </a:prstGeom>
              <a:blipFill>
                <a:blip r:embed="rId5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Rectangle 82"/>
          <p:cNvSpPr/>
          <p:nvPr/>
        </p:nvSpPr>
        <p:spPr>
          <a:xfrm>
            <a:off x="5301248" y="802449"/>
            <a:ext cx="1740485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4" name="TextBox 83"/>
          <p:cNvSpPr txBox="1"/>
          <p:nvPr/>
        </p:nvSpPr>
        <p:spPr>
          <a:xfrm>
            <a:off x="4951785" y="2659683"/>
            <a:ext cx="11734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50130" y="-7869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83558" y="2569456"/>
            <a:ext cx="2837074" cy="1524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6" name="TextBox 95"/>
          <p:cNvSpPr txBox="1"/>
          <p:nvPr/>
        </p:nvSpPr>
        <p:spPr>
          <a:xfrm>
            <a:off x="488413" y="2457335"/>
            <a:ext cx="196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30209" y="2452117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649597" y="2457334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246664" y="2457333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856598" y="2457332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475986" y="2456186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551360" y="2659683"/>
            <a:ext cx="11734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</a:p>
        </p:txBody>
      </p:sp>
    </p:spTree>
    <p:extLst>
      <p:ext uri="{BB962C8B-B14F-4D97-AF65-F5344CB8AC3E}">
        <p14:creationId xmlns:p14="http://schemas.microsoft.com/office/powerpoint/2010/main" val="41156337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3102661" y="568993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8320" y="5836205"/>
            <a:ext cx="20991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 nm power (mW)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7515" y="3418244"/>
            <a:ext cx="384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 rot="16200000">
            <a:off x="1103413" y="4305610"/>
            <a:ext cx="7356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symlog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6043" y="310415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62974" y="5616869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2183" y="5613523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90278" y="5617333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74884" y="5616627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13051" y="5616627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2970" y="5621035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46043" y="5617885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1562" y="3651036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36261" y="3889374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38911" y="4131374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36261" y="4391042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66271" y="4633042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79723" y="4860642"/>
            <a:ext cx="533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76849" y="5102642"/>
            <a:ext cx="533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77947" y="5334482"/>
            <a:ext cx="533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971289" y="728173"/>
            <a:ext cx="3104025" cy="223051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TextBox 45"/>
          <p:cNvSpPr txBox="1"/>
          <p:nvPr/>
        </p:nvSpPr>
        <p:spPr>
          <a:xfrm>
            <a:off x="2069180" y="1232085"/>
            <a:ext cx="29687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N" dirty="0"/>
              <a:t>Figurative diagram of face on and side on configuration with its dipoles’ configurations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26043" y="437894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08601" y="568231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978123" y="5613523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96218" y="5617333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80824" y="5612817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18991" y="5616627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38910" y="5624845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751983" y="5621695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5113" y="5618070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</a:p>
        </p:txBody>
      </p:sp>
      <p:pic>
        <p:nvPicPr>
          <p:cNvPr id="50" name="Picture 49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99" t="14518" r="9435" b="11489"/>
          <a:stretch/>
        </p:blipFill>
        <p:spPr>
          <a:xfrm>
            <a:off x="1959475" y="3372322"/>
            <a:ext cx="3130800" cy="2321795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3039173" y="5618070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081902" y="5538381"/>
            <a:ext cx="211328" cy="0"/>
          </a:xfrm>
          <a:prstGeom prst="line">
            <a:avLst/>
          </a:prstGeom>
          <a:ln w="28575">
            <a:solidFill>
              <a:srgbClr val="4169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3153365" y="5528498"/>
            <a:ext cx="211328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236765" y="5353020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Side 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08230" y="5350486"/>
            <a:ext cx="8401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Face on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07" t="14745" r="9484" b="11738"/>
          <a:stretch/>
        </p:blipFill>
        <p:spPr>
          <a:xfrm>
            <a:off x="5862862" y="731457"/>
            <a:ext cx="3087276" cy="2276401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4" t="14451" r="9366" b="11793"/>
          <a:stretch/>
        </p:blipFill>
        <p:spPr>
          <a:xfrm>
            <a:off x="5862862" y="3380540"/>
            <a:ext cx="3126520" cy="2301779"/>
          </a:xfrm>
          <a:prstGeom prst="rect">
            <a:avLst/>
          </a:prstGeom>
        </p:spPr>
      </p:pic>
      <p:cxnSp>
        <p:nvCxnSpPr>
          <p:cNvPr id="52" name="Straight Connector 51"/>
          <p:cNvCxnSpPr/>
          <p:nvPr/>
        </p:nvCxnSpPr>
        <p:spPr>
          <a:xfrm>
            <a:off x="6849071" y="5540442"/>
            <a:ext cx="211328" cy="0"/>
          </a:xfrm>
          <a:prstGeom prst="line">
            <a:avLst/>
          </a:prstGeom>
          <a:ln w="28575">
            <a:solidFill>
              <a:srgbClr val="4169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>
            <a:off x="5962347" y="5541305"/>
            <a:ext cx="211328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984977" y="5365677"/>
            <a:ext cx="1392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Perpendicular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17777" y="5359221"/>
            <a:ext cx="8408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Parallel</a:t>
            </a:r>
          </a:p>
        </p:txBody>
      </p:sp>
      <p:cxnSp>
        <p:nvCxnSpPr>
          <p:cNvPr id="56" name="Straight Connector 55"/>
          <p:cNvCxnSpPr/>
          <p:nvPr/>
        </p:nvCxnSpPr>
        <p:spPr>
          <a:xfrm>
            <a:off x="6849071" y="2883040"/>
            <a:ext cx="211328" cy="0"/>
          </a:xfrm>
          <a:prstGeom prst="line">
            <a:avLst/>
          </a:prstGeom>
          <a:ln w="28575">
            <a:solidFill>
              <a:srgbClr val="4169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>
            <a:off x="5962347" y="2883903"/>
            <a:ext cx="211328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984977" y="2708275"/>
            <a:ext cx="1392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Perpendicular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17777" y="2701819"/>
            <a:ext cx="8408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Parallel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86864" y="784264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Face on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140290" y="822307"/>
            <a:ext cx="717960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6" name="TextBox 75"/>
          <p:cNvSpPr txBox="1"/>
          <p:nvPr/>
        </p:nvSpPr>
        <p:spPr>
          <a:xfrm>
            <a:off x="8117344" y="3454805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Side on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170770" y="3492848"/>
            <a:ext cx="717960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8" name="TextBox 77"/>
          <p:cNvSpPr txBox="1"/>
          <p:nvPr/>
        </p:nvSpPr>
        <p:spPr>
          <a:xfrm>
            <a:off x="5916465" y="291401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20819" y="291290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57657" y="291938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510543" y="292024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49686" y="291401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532877" y="2914015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62953" y="3068881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27895" y="559163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432249" y="559053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69087" y="559700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521973" y="559786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072546" y="559163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167" y="5591639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49071" y="5840402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400670" y="1020435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503k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03198" y="130632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502k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00670" y="158176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501k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07473" y="185049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500k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399284" y="268455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497k</a:t>
            </a:r>
          </a:p>
        </p:txBody>
      </p:sp>
      <p:sp>
        <p:nvSpPr>
          <p:cNvPr id="98" name="TextBox 97"/>
          <p:cNvSpPr txBox="1"/>
          <p:nvPr/>
        </p:nvSpPr>
        <p:spPr>
          <a:xfrm rot="16200000">
            <a:off x="4145051" y="1624060"/>
            <a:ext cx="23674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81943" y="43975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400670" y="2128465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499k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501119" y="337008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51k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501119" y="371008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50k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505505" y="407004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505505" y="441719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48k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497730" y="511302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46k</a:t>
            </a:r>
          </a:p>
        </p:txBody>
      </p:sp>
      <p:sp>
        <p:nvSpPr>
          <p:cNvPr id="106" name="TextBox 105"/>
          <p:cNvSpPr txBox="1"/>
          <p:nvPr/>
        </p:nvSpPr>
        <p:spPr>
          <a:xfrm rot="16200000">
            <a:off x="4159612" y="4336411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234749" y="312103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501119" y="477704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47k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403150" y="73474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504k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407473" y="242142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498k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494579" y="546714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45k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200683" y="3454805"/>
            <a:ext cx="11377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Parallel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216447" y="3492848"/>
            <a:ext cx="774425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9" name="Hexagon 108"/>
          <p:cNvSpPr/>
          <p:nvPr/>
        </p:nvSpPr>
        <p:spPr>
          <a:xfrm>
            <a:off x="9841865" y="980440"/>
            <a:ext cx="1686560" cy="1440000"/>
          </a:xfrm>
          <a:prstGeom prst="hex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12" name="Straight Arrow Connector 111"/>
          <p:cNvCxnSpPr>
            <a:endCxn id="109" idx="1"/>
          </p:cNvCxnSpPr>
          <p:nvPr/>
        </p:nvCxnSpPr>
        <p:spPr>
          <a:xfrm>
            <a:off x="10683875" y="1697038"/>
            <a:ext cx="484550" cy="72340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/>
          <p:cNvCxnSpPr>
            <a:endCxn id="109" idx="0"/>
          </p:cNvCxnSpPr>
          <p:nvPr/>
        </p:nvCxnSpPr>
        <p:spPr>
          <a:xfrm>
            <a:off x="10683875" y="1697038"/>
            <a:ext cx="844550" cy="340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/>
          <p:cNvCxnSpPr>
            <a:endCxn id="109" idx="5"/>
          </p:cNvCxnSpPr>
          <p:nvPr/>
        </p:nvCxnSpPr>
        <p:spPr>
          <a:xfrm flipV="1">
            <a:off x="10683875" y="980440"/>
            <a:ext cx="484550" cy="716598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/>
          <p:cNvCxnSpPr>
            <a:endCxn id="109" idx="4"/>
          </p:cNvCxnSpPr>
          <p:nvPr/>
        </p:nvCxnSpPr>
        <p:spPr>
          <a:xfrm flipH="1" flipV="1">
            <a:off x="10201865" y="980440"/>
            <a:ext cx="482010" cy="716598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/>
          <p:cNvCxnSpPr>
            <a:endCxn id="109" idx="3"/>
          </p:cNvCxnSpPr>
          <p:nvPr/>
        </p:nvCxnSpPr>
        <p:spPr>
          <a:xfrm flipH="1">
            <a:off x="9841865" y="1694180"/>
            <a:ext cx="838200" cy="6260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/>
          <p:cNvCxnSpPr>
            <a:endCxn id="109" idx="2"/>
          </p:cNvCxnSpPr>
          <p:nvPr/>
        </p:nvCxnSpPr>
        <p:spPr>
          <a:xfrm flipH="1">
            <a:off x="10201865" y="1697038"/>
            <a:ext cx="479470" cy="72340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/>
          <p:cNvCxnSpPr/>
          <p:nvPr/>
        </p:nvCxnSpPr>
        <p:spPr>
          <a:xfrm>
            <a:off x="10681335" y="1703842"/>
            <a:ext cx="2540" cy="72340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/>
          <p:cNvCxnSpPr/>
          <p:nvPr/>
        </p:nvCxnSpPr>
        <p:spPr>
          <a:xfrm>
            <a:off x="10683875" y="1697040"/>
            <a:ext cx="663280" cy="368505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/>
          <p:cNvCxnSpPr/>
          <p:nvPr/>
        </p:nvCxnSpPr>
        <p:spPr>
          <a:xfrm flipV="1">
            <a:off x="10683875" y="1348946"/>
            <a:ext cx="663280" cy="34809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Arrow Connector 123"/>
          <p:cNvCxnSpPr/>
          <p:nvPr/>
        </p:nvCxnSpPr>
        <p:spPr>
          <a:xfrm flipH="1" flipV="1">
            <a:off x="10681335" y="990649"/>
            <a:ext cx="2540" cy="702989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/>
          <p:cNvCxnSpPr/>
          <p:nvPr/>
        </p:nvCxnSpPr>
        <p:spPr>
          <a:xfrm flipH="1" flipV="1">
            <a:off x="10020595" y="1348948"/>
            <a:ext cx="667090" cy="348093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/>
          <p:cNvCxnSpPr/>
          <p:nvPr/>
        </p:nvCxnSpPr>
        <p:spPr>
          <a:xfrm flipH="1">
            <a:off x="10020597" y="1700441"/>
            <a:ext cx="658835" cy="371907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6092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/>
          <p:cNvSpPr txBox="1"/>
          <p:nvPr/>
        </p:nvSpPr>
        <p:spPr>
          <a:xfrm>
            <a:off x="1978711" y="274671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4370" y="2892980"/>
            <a:ext cx="20991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 nm power (mW)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565" y="475019"/>
            <a:ext cx="384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 rot="16200000">
            <a:off x="-20539" y="1362385"/>
            <a:ext cx="7356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I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symlog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0615" y="122828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39024" y="2673644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8233" y="2670298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66328" y="2674108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50934" y="2673402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9101" y="2673402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09020" y="2677810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2093" y="2674660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7612" y="707811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311" y="946149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4961" y="1188149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311" y="1447817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321" y="1689817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773" y="1917417"/>
            <a:ext cx="533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899" y="2159417"/>
            <a:ext cx="533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997" y="2391257"/>
            <a:ext cx="533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84651" y="273909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54173" y="2670298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72268" y="2674108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56874" y="2669592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95041" y="2673402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14960" y="2681620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28033" y="2678470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21163" y="2674845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</a:p>
        </p:txBody>
      </p:sp>
      <p:pic>
        <p:nvPicPr>
          <p:cNvPr id="51" name="Picture 50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99" t="14518" r="9435" b="11489"/>
          <a:stretch/>
        </p:blipFill>
        <p:spPr>
          <a:xfrm>
            <a:off x="835525" y="429097"/>
            <a:ext cx="3130800" cy="2321795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915223" y="2674845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</a:p>
        </p:txBody>
      </p:sp>
      <p:cxnSp>
        <p:nvCxnSpPr>
          <p:cNvPr id="53" name="Straight Connector 52"/>
          <p:cNvCxnSpPr/>
          <p:nvPr/>
        </p:nvCxnSpPr>
        <p:spPr>
          <a:xfrm>
            <a:off x="2957952" y="2595156"/>
            <a:ext cx="211328" cy="0"/>
          </a:xfrm>
          <a:prstGeom prst="line">
            <a:avLst/>
          </a:prstGeom>
          <a:ln w="28575">
            <a:solidFill>
              <a:srgbClr val="4169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2029415" y="2585273"/>
            <a:ext cx="211328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3112815" y="2409795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Side 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84280" y="2407261"/>
            <a:ext cx="8401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Face 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076733" y="511580"/>
            <a:ext cx="11377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Parallel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092497" y="549623"/>
            <a:ext cx="774425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60" name="Picture 59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07" t="14745" r="9484" b="11738"/>
          <a:stretch/>
        </p:blipFill>
        <p:spPr>
          <a:xfrm>
            <a:off x="4690104" y="423176"/>
            <a:ext cx="3287317" cy="2336081"/>
          </a:xfrm>
          <a:prstGeom prst="rect">
            <a:avLst/>
          </a:prstGeom>
        </p:spPr>
      </p:pic>
      <p:cxnSp>
        <p:nvCxnSpPr>
          <p:cNvPr id="61" name="Straight Connector 60"/>
          <p:cNvCxnSpPr/>
          <p:nvPr/>
        </p:nvCxnSpPr>
        <p:spPr>
          <a:xfrm>
            <a:off x="5740214" y="2631167"/>
            <a:ext cx="225021" cy="0"/>
          </a:xfrm>
          <a:prstGeom prst="line">
            <a:avLst/>
          </a:prstGeom>
          <a:ln w="28575">
            <a:solidFill>
              <a:srgbClr val="4169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4796035" y="2632053"/>
            <a:ext cx="225021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5884924" y="2451820"/>
            <a:ext cx="1483205" cy="347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Perpendicular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61536" y="2445195"/>
            <a:ext cx="895331" cy="347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Parallel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58211" y="477368"/>
            <a:ext cx="1200833" cy="347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Face on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15096" y="516406"/>
            <a:ext cx="764480" cy="269352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7" name="TextBox 66"/>
          <p:cNvSpPr txBox="1"/>
          <p:nvPr/>
        </p:nvSpPr>
        <p:spPr>
          <a:xfrm>
            <a:off x="4747178" y="2662952"/>
            <a:ext cx="41063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284212" y="2661816"/>
            <a:ext cx="41063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55834" y="2668459"/>
            <a:ext cx="41063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44545" y="2669345"/>
            <a:ext cx="41063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18622" y="2662952"/>
            <a:ext cx="41063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33123" y="2662952"/>
            <a:ext cx="558225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48516" y="2898080"/>
            <a:ext cx="1200833" cy="347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34906" y="719729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503k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37598" y="1013113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502k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234906" y="1295774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501k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42150" y="1571553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500k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33430" y="2427475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497k</a:t>
            </a:r>
          </a:p>
        </p:txBody>
      </p:sp>
      <p:sp>
        <p:nvSpPr>
          <p:cNvPr id="79" name="TextBox 78"/>
          <p:cNvSpPr txBox="1"/>
          <p:nvPr/>
        </p:nvSpPr>
        <p:spPr>
          <a:xfrm rot="16200000">
            <a:off x="2952832" y="1343618"/>
            <a:ext cx="24295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22660" y="114300"/>
            <a:ext cx="480292" cy="347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34906" y="1856808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499k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237547" y="426548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504k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242150" y="2157443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498k</a:t>
            </a:r>
          </a:p>
        </p:txBody>
      </p:sp>
      <p:pic>
        <p:nvPicPr>
          <p:cNvPr id="84" name="Picture 8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4" t="14451" r="9366" b="11793"/>
          <a:stretch/>
        </p:blipFill>
        <p:spPr>
          <a:xfrm>
            <a:off x="8326322" y="401442"/>
            <a:ext cx="3199525" cy="2355526"/>
          </a:xfrm>
          <a:prstGeom prst="rect">
            <a:avLst/>
          </a:prstGeom>
        </p:spPr>
      </p:pic>
      <p:cxnSp>
        <p:nvCxnSpPr>
          <p:cNvPr id="85" name="Straight Connector 84"/>
          <p:cNvCxnSpPr/>
          <p:nvPr/>
        </p:nvCxnSpPr>
        <p:spPr>
          <a:xfrm>
            <a:off x="9335559" y="2611781"/>
            <a:ext cx="216263" cy="0"/>
          </a:xfrm>
          <a:prstGeom prst="line">
            <a:avLst/>
          </a:prstGeom>
          <a:ln w="28575">
            <a:solidFill>
              <a:srgbClr val="4169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/>
          <p:cNvCxnSpPr/>
          <p:nvPr/>
        </p:nvCxnSpPr>
        <p:spPr>
          <a:xfrm>
            <a:off x="8428130" y="2612664"/>
            <a:ext cx="216263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9474636" y="2432937"/>
            <a:ext cx="1425475" cy="346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Perpendicular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587187" y="2426330"/>
            <a:ext cx="860482" cy="346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Parallel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33444" y="477446"/>
            <a:ext cx="1154094" cy="346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Side on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688120" y="516373"/>
            <a:ext cx="734725" cy="268600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1" name="TextBox 90"/>
          <p:cNvSpPr txBox="1"/>
          <p:nvPr/>
        </p:nvSpPr>
        <p:spPr>
          <a:xfrm>
            <a:off x="8392873" y="2664171"/>
            <a:ext cx="394651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909004" y="2663038"/>
            <a:ext cx="394651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458377" y="2669662"/>
            <a:ext cx="394651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024173" y="2670546"/>
            <a:ext cx="394651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587602" y="2664171"/>
            <a:ext cx="394651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093771" y="2664171"/>
            <a:ext cx="536498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335557" y="2899697"/>
            <a:ext cx="1154094" cy="346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965368" y="390746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51k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965368" y="738679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50k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969856" y="1107043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49k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69856" y="1462305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48k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61900" y="2174376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46k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198265" y="107305"/>
            <a:ext cx="461597" cy="346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65368" y="1830559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47k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958675" y="2536771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45k</a:t>
            </a:r>
          </a:p>
        </p:txBody>
      </p:sp>
    </p:spTree>
    <p:extLst>
      <p:ext uri="{BB962C8B-B14F-4D97-AF65-F5344CB8AC3E}">
        <p14:creationId xmlns:p14="http://schemas.microsoft.com/office/powerpoint/2010/main" val="33881610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86" t="14104" r="9187" b="10850"/>
          <a:stretch/>
        </p:blipFill>
        <p:spPr>
          <a:xfrm>
            <a:off x="2346962" y="1043940"/>
            <a:ext cx="3145333" cy="243078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62" t="14228" r="9116" b="11076"/>
          <a:stretch/>
        </p:blipFill>
        <p:spPr>
          <a:xfrm>
            <a:off x="4271012" y="4038871"/>
            <a:ext cx="3140351" cy="233791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55" t="13922" r="8708" b="11105"/>
          <a:stretch/>
        </p:blipFill>
        <p:spPr>
          <a:xfrm>
            <a:off x="5981700" y="1066800"/>
            <a:ext cx="3138412" cy="2407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30499" y="3577082"/>
            <a:ext cx="19965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 nm power (mW)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815" y="3568609"/>
            <a:ext cx="19965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975 nm power (mW)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8313" y="597432"/>
            <a:ext cx="21408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1064 nm power (mW)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5080" y="597432"/>
            <a:ext cx="21408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1064 nm power (mW)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5644" y="6465281"/>
            <a:ext cx="16567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(º)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 rot="16200000">
                <a:off x="5206644" y="1910969"/>
                <a:ext cx="90845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</m:oMath>
                </a14:m>
                <a:r>
                  <a:rPr lang="en-I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ms)</a:t>
                </a: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206644" y="1910969"/>
                <a:ext cx="908457" cy="338554"/>
              </a:xfrm>
              <a:prstGeom prst="rect">
                <a:avLst/>
              </a:prstGeom>
              <a:blipFill>
                <a:blip r:embed="rId5"/>
                <a:stretch>
                  <a:fillRect l="-5455" r="-2363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 rot="16200000">
                <a:off x="1499463" y="1910968"/>
                <a:ext cx="90845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</m:oMath>
                </a14:m>
                <a:r>
                  <a:rPr lang="en-I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ms)</a:t>
                </a: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1499463" y="1910968"/>
                <a:ext cx="908457" cy="338554"/>
              </a:xfrm>
              <a:prstGeom prst="rect">
                <a:avLst/>
              </a:prstGeom>
              <a:blipFill>
                <a:blip r:embed="rId6"/>
                <a:stretch>
                  <a:fillRect l="-5455" r="-2363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15"/>
          <p:cNvCxnSpPr/>
          <p:nvPr/>
        </p:nvCxnSpPr>
        <p:spPr>
          <a:xfrm>
            <a:off x="6459342" y="4192103"/>
            <a:ext cx="211328" cy="0"/>
          </a:xfrm>
          <a:prstGeom prst="line">
            <a:avLst/>
          </a:prstGeom>
          <a:ln w="28575">
            <a:solidFill>
              <a:srgbClr val="00808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>
            <a:off x="5619193" y="4184754"/>
            <a:ext cx="211328" cy="0"/>
          </a:xfrm>
          <a:prstGeom prst="line">
            <a:avLst/>
          </a:prstGeom>
          <a:ln w="28575">
            <a:solidFill>
              <a:srgbClr val="FFA5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6614205" y="4006742"/>
                <a:ext cx="112776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</m:oMath>
                </a14:m>
                <a:r>
                  <a:rPr lang="en-I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ms)</a:t>
                </a: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4205" y="4006742"/>
                <a:ext cx="1127760" cy="338554"/>
              </a:xfrm>
              <a:prstGeom prst="rect">
                <a:avLst/>
              </a:prstGeom>
              <a:blipFill>
                <a:blip r:embed="rId7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5774058" y="4006742"/>
                <a:ext cx="84014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</m:oMath>
                </a14:m>
                <a:r>
                  <a:rPr lang="en-I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ms)</a:t>
                </a:r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4058" y="4006742"/>
                <a:ext cx="840149" cy="338554"/>
              </a:xfrm>
              <a:prstGeom prst="rect">
                <a:avLst/>
              </a:prstGeom>
              <a:blipFill>
                <a:blip r:embed="rId8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/>
          <p:cNvSpPr txBox="1"/>
          <p:nvPr/>
        </p:nvSpPr>
        <p:spPr>
          <a:xfrm>
            <a:off x="2204267" y="337219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88862" y="337219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3457" y="337218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58052" y="337401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2647" y="337218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1731" y="337218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1166" y="337020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09550" y="336737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31387" y="337727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5982" y="337727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00577" y="337726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85172" y="337909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9767" y="337726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8851" y="337726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48286" y="337528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36670" y="337245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96039" y="81769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80634" y="81586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79549" y="81533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78464" y="81533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00792" y="81682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98656" y="81533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90407" y="81533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94376" y="81533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11475" y="85325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96070" y="85142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94985" y="85089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93900" y="85089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16228" y="85238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14092" y="85089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05843" y="85089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09812" y="85089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29207" y="969222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29207" y="1223327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28507" y="1472131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28507" y="1754500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28507" y="2014069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28507" y="2275911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28507" y="2516274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27807" y="2782045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27107" y="3040822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12860" y="1094295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712860" y="1510047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712860" y="1924226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712860" y="2342672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708832" y="2765979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10647" y="3174108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15072" y="628088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699667" y="628271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84262" y="628088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73346" y="628088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2781" y="627889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51165" y="627607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20156" y="627607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89291" y="627607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00792" y="403086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00792" y="428829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000792" y="454571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00792" y="477779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097058" y="5030470"/>
            <a:ext cx="261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97058" y="5290181"/>
            <a:ext cx="261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4097058" y="5533958"/>
            <a:ext cx="261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4097058" y="5785533"/>
            <a:ext cx="261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097058" y="6037108"/>
            <a:ext cx="261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31361" y="595196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04148" y="595106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819947" y="376613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  <p:pic>
        <p:nvPicPr>
          <p:cNvPr id="91" name="Picture 9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98811" y="554190"/>
            <a:ext cx="7425572" cy="6303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5574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21" t="14680" r="9511" b="11784"/>
          <a:stretch/>
        </p:blipFill>
        <p:spPr>
          <a:xfrm>
            <a:off x="995057" y="3033715"/>
            <a:ext cx="3151385" cy="232835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02" t="14681" r="9402" b="11785"/>
          <a:stretch/>
        </p:blipFill>
        <p:spPr>
          <a:xfrm>
            <a:off x="976697" y="338139"/>
            <a:ext cx="3164178" cy="23283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26166" y="257720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1950" y="258371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97838" y="258256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0724" y="258343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1297" y="257720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18778" y="2577203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2654" y="2732069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7829" y="46577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506k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829" y="82101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504k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7829" y="116393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502k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829" y="152223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500k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23" y="221691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496k</a:t>
            </a:r>
          </a:p>
        </p:txBody>
      </p:sp>
      <p:sp>
        <p:nvSpPr>
          <p:cNvPr id="19" name="TextBox 18"/>
          <p:cNvSpPr txBox="1"/>
          <p:nvPr/>
        </p:nvSpPr>
        <p:spPr>
          <a:xfrm rot="16200000">
            <a:off x="-705386" y="1323411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</a:p>
        </p:txBody>
      </p:sp>
      <p:cxnSp>
        <p:nvCxnSpPr>
          <p:cNvPr id="20" name="Straight Connector 19"/>
          <p:cNvCxnSpPr/>
          <p:nvPr/>
        </p:nvCxnSpPr>
        <p:spPr>
          <a:xfrm>
            <a:off x="1181343" y="2242922"/>
            <a:ext cx="211328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800433" y="33845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829" y="186598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498k</a:t>
            </a:r>
          </a:p>
        </p:txBody>
      </p:sp>
      <p:cxnSp>
        <p:nvCxnSpPr>
          <p:cNvPr id="24" name="Straight Connector 23"/>
          <p:cNvCxnSpPr/>
          <p:nvPr/>
        </p:nvCxnSpPr>
        <p:spPr>
          <a:xfrm>
            <a:off x="1181343" y="2451835"/>
            <a:ext cx="211328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351446" y="2057561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51446" y="2276893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640" y="310824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6898" y="341488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5354" y="375580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1346" y="406243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7497" y="470998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-40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/>
              <p:cNvSpPr txBox="1"/>
              <p:nvPr/>
            </p:nvSpPr>
            <p:spPr>
              <a:xfrm rot="16200000">
                <a:off x="-709978" y="3872337"/>
                <a:ext cx="2328567" cy="6243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IN" sz="16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IN" sz="16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Δ</m:t>
                          </m:r>
                          <m:r>
                            <a:rPr lang="en-IN" sz="16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𝑆</m:t>
                          </m:r>
                        </m:num>
                        <m:den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1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𝑟𝑒𝑓</m:t>
                              </m:r>
                            </m:sub>
                          </m:sSub>
                        </m:den>
                      </m:f>
                      <m:r>
                        <a:rPr lang="en-IN" sz="16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[%]</m:t>
                      </m:r>
                    </m:oMath>
                  </m:oMathPara>
                </a14:m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4" name="Text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709978" y="3872337"/>
                <a:ext cx="2328567" cy="62433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/>
          <p:cNvSpPr txBox="1"/>
          <p:nvPr/>
        </p:nvSpPr>
        <p:spPr>
          <a:xfrm>
            <a:off x="3794613" y="2745999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9323" y="437332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7497" y="501661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9701" y="527277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23020" y="526676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2304" y="526676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96700" y="526676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94713" y="527277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77858" y="527591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58838" y="527375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51538" y="526676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72804" y="5427644"/>
            <a:ext cx="16567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(º)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/>
              <p:cNvSpPr txBox="1"/>
              <p:nvPr/>
            </p:nvSpPr>
            <p:spPr>
              <a:xfrm>
                <a:off x="1176221" y="4857451"/>
                <a:ext cx="2101228" cy="358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𝜂</m:t>
                        </m:r>
                      </m:e>
                      <m:sub>
                        <m:r>
                          <a:rPr lang="en-IN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𝑓𝑟𝑎𝑐</m:t>
                        </m:r>
                      </m:sub>
                    </m:sSub>
                  </m:oMath>
                </a14:m>
                <a:r>
                  <a:rPr lang="en-I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 1.46 </a:t>
                </a:r>
                <a14:m>
                  <m:oMath xmlns:m="http://schemas.openxmlformats.org/officeDocument/2006/math">
                    <m:r>
                      <a:rPr lang="en-IN" sz="1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°</m:t>
                    </m:r>
                    <m:r>
                      <a:rPr lang="en-IN" sz="1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𝐶</m:t>
                    </m:r>
                    <m:r>
                      <a:rPr lang="en-IN" sz="1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/√</m:t>
                    </m:r>
                    <m:r>
                      <a:rPr lang="en-IN" sz="1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𝐻𝑧</m:t>
                    </m:r>
                  </m:oMath>
                </a14:m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Text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221" y="4857451"/>
                <a:ext cx="2101228" cy="358303"/>
              </a:xfrm>
              <a:prstGeom prst="rect">
                <a:avLst/>
              </a:prstGeom>
              <a:blipFill>
                <a:blip r:embed="rId5"/>
                <a:stretch>
                  <a:fillRect t="-3390" b="-1694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tangle 48"/>
          <p:cNvSpPr/>
          <p:nvPr/>
        </p:nvSpPr>
        <p:spPr>
          <a:xfrm>
            <a:off x="1157968" y="4895441"/>
            <a:ext cx="1996333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489052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2346</TotalTime>
  <Words>1655</Words>
  <Application>Microsoft Office PowerPoint</Application>
  <PresentationFormat>Widescreen</PresentationFormat>
  <Paragraphs>956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Calibri Light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Atanu</dc:creator>
  <cp:lastModifiedBy>spy lab</cp:lastModifiedBy>
  <cp:revision>148</cp:revision>
  <dcterms:created xsi:type="dcterms:W3CDTF">2025-10-23T05:31:24Z</dcterms:created>
  <dcterms:modified xsi:type="dcterms:W3CDTF">2026-03-07T07:25:36Z</dcterms:modified>
</cp:coreProperties>
</file>